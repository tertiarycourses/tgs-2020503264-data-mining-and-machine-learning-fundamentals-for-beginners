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3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4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5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6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7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8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9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0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1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2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Decision readiness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Decision readiness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Sheet1!$A$2:$A$4</c:f>
              <c:strCache>
                <c:ptCount val="3"/>
                <c:pt idx="0">
                  <c:v>Unframed</c:v>
                </c:pt>
                <c:pt idx="1">
                  <c:v>Metric only</c:v>
                </c:pt>
                <c:pt idx="2">
                  <c:v>Decision-led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22</c:v>
                </c:pt>
                <c:pt idx="1">
                  <c:v>54</c:v>
                </c:pt>
                <c:pt idx="2">
                  <c:v>82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4.3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Trace completeness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Trace completeness (%)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Sheet1!$A$2:$A$5</c:f>
              <c:strCache>
                <c:ptCount val="4"/>
                <c:pt idx="0">
                  <c:v>Inputs</c:v>
                </c:pt>
                <c:pt idx="1">
                  <c:v>Scores</c:v>
                </c:pt>
                <c:pt idx="2">
                  <c:v>Actions</c:v>
                </c:pt>
                <c:pt idx="3">
                  <c:v>Outcomes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98</c:v>
                </c:pt>
                <c:pt idx="2">
                  <c:v>91</c:v>
                </c:pt>
                <c:pt idx="3">
                  <c:v>76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4.9999999999999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Accuracy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Accuracy (%)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Sheet1!$A$2:$A$4</c:f>
              <c:strCache>
                <c:ptCount val="3"/>
                <c:pt idx="0">
                  <c:v>Train</c:v>
                </c:pt>
                <c:pt idx="1">
                  <c:v>Validation</c:v>
                </c:pt>
                <c:pt idx="2">
                  <c:v>Test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96</c:v>
                </c:pt>
                <c:pt idx="1">
                  <c:v>85</c:v>
                </c:pt>
                <c:pt idx="2">
                  <c:v>81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3999999999999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Retention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Retention (%)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Sheet1!$A$2:$A$4</c:f>
              <c:strCache>
                <c:ptCount val="3"/>
                <c:pt idx="0">
                  <c:v>Control</c:v>
                </c:pt>
                <c:pt idx="1">
                  <c:v>Model targeted</c:v>
                </c:pt>
                <c:pt idx="2">
                  <c:v>Measured uplift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14.1</c:v>
                </c:pt>
                <c:pt idx="1">
                  <c:v>17.0</c:v>
                </c:pt>
                <c:pt idx="2">
                  <c:v>18.4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1.159999999999997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Rows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Rows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Sheet1!$A$2:$A$4</c:f>
              <c:strCache>
                <c:ptCount val="3"/>
                <c:pt idx="0">
                  <c:v>Received</c:v>
                </c:pt>
                <c:pt idx="1">
                  <c:v>Valid</c:v>
                </c:pt>
                <c:pt idx="2">
                  <c:v>Quarantined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10000</c:v>
                </c:pt>
                <c:pt idx="1">
                  <c:v>9720</c:v>
                </c:pt>
                <c:pt idx="2">
                  <c:v>280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Rows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Rows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Sheet1!$A$2:$A$4</c:f>
              <c:strCache>
                <c:ptCount val="3"/>
                <c:pt idx="0">
                  <c:v>Source</c:v>
                </c:pt>
                <c:pt idx="1">
                  <c:v>Selected</c:v>
                </c:pt>
                <c:pt idx="2">
                  <c:v>Excluded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2000</c:v>
                </c:pt>
                <c:pt idx="1">
                  <c:v>1250</c:v>
                </c:pt>
                <c:pt idx="2">
                  <c:v>750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3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Join reconciliation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Join reconciliation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Sheet1!$A$2:$A$5</c:f>
              <c:strCache>
                <c:ptCount val="4"/>
                <c:pt idx="0">
                  <c:v>Left rows</c:v>
                </c:pt>
                <c:pt idx="1">
                  <c:v>Matched</c:v>
                </c:pt>
                <c:pt idx="2">
                  <c:v>Unmatched</c:v>
                </c:pt>
                <c:pt idx="3">
                  <c:v>Output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160</c:v>
                </c:pt>
                <c:pt idx="1">
                  <c:v>154</c:v>
                </c:pt>
                <c:pt idx="2">
                  <c:v>6</c:v>
                </c:pt>
                <c:pt idx="3">
                  <c:v>160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84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Absolute distribution shift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Absolute distribution shift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Sheet1!$A$2:$A$4</c:f>
              <c:strCache>
                <c:ptCount val="3"/>
                <c:pt idx="0">
                  <c:v>Before</c:v>
                </c:pt>
                <c:pt idx="1">
                  <c:v>Median fill</c:v>
                </c:pt>
                <c:pt idx="2">
                  <c:v>Mean fill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4</c:v>
                </c:pt>
                <c:pt idx="2">
                  <c:v>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0.7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Illustrative magnitude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magnitude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Sheet1!$A$2:$A$4</c:f>
              <c:strCache>
                <c:ptCount val="3"/>
                <c:pt idx="0">
                  <c:v>Raw range</c:v>
                </c:pt>
                <c:pt idx="1">
                  <c:v>Scaled range</c:v>
                </c:pt>
                <c:pt idx="2">
                  <c:v>Reconciled total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850</c:v>
                </c:pt>
                <c:pt idx="1">
                  <c:v>5</c:v>
                </c:pt>
                <c:pt idx="2">
                  <c:v>100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77.499999999999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Price (SGD)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Price (SGD)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Sheet1!$A$2:$A$4</c:f>
              <c:strCache>
                <c:ptCount val="3"/>
                <c:pt idx="0">
                  <c:v>Actual</c:v>
                </c:pt>
                <c:pt idx="1">
                  <c:v>Predicted</c:v>
                </c:pt>
                <c:pt idx="2">
                  <c:v>Residual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680400</c:v>
                </c:pt>
                <c:pt idx="1">
                  <c:v>670400</c:v>
                </c:pt>
                <c:pt idx="2">
                  <c:v>10000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82459.999999999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Residual spread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Residual spread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Sheet1!$A$2:$A$4</c:f>
              <c:strCache>
                <c:ptCount val="3"/>
                <c:pt idx="0">
                  <c:v>Low fitted</c:v>
                </c:pt>
                <c:pt idx="1">
                  <c:v>Mid fitted</c:v>
                </c:pt>
                <c:pt idx="2">
                  <c:v>High fitted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</c:v>
                </c:pt>
                <c:pt idx="1">
                  <c:v>19</c:v>
                </c:pt>
                <c:pt idx="2">
                  <c:v>38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3.699999999999996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RMSE (lower is better)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RMSE (lower is better)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Sheet1!$A$2:$A$4</c:f>
              <c:strCache>
                <c:ptCount val="3"/>
                <c:pt idx="0">
                  <c:v>Mean baseline</c:v>
                </c:pt>
                <c:pt idx="1">
                  <c:v>Linear</c:v>
                </c:pt>
                <c:pt idx="2">
                  <c:v>Ridge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78000</c:v>
                </c:pt>
                <c:pt idx="1">
                  <c:v>36000</c:v>
                </c:pt>
                <c:pt idx="2">
                  <c:v>34000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97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Validation RMSE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Validation RMSE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Sheet1!$A$2:$A$4</c:f>
              <c:strCache>
                <c:ptCount val="3"/>
                <c:pt idx="0">
                  <c:v>Too simple</c:v>
                </c:pt>
                <c:pt idx="1">
                  <c:v>Balanced</c:v>
                </c:pt>
                <c:pt idx="2">
                  <c:v>Too complex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62</c:v>
                </c:pt>
                <c:pt idx="1">
                  <c:v>31</c:v>
                </c:pt>
                <c:pt idx="2">
                  <c:v>47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1.3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Validation RMSE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Validation RMSE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Sheet1!$A$2:$A$4</c:f>
              <c:strCache>
                <c:ptCount val="3"/>
                <c:pt idx="0">
                  <c:v>α=0.01</c:v>
                </c:pt>
                <c:pt idx="1">
                  <c:v>α=1</c:v>
                </c:pt>
                <c:pt idx="2">
                  <c:v>α=100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39</c:v>
                </c:pt>
                <c:pt idx="1">
                  <c:v>33</c:v>
                </c:pt>
                <c:pt idx="2">
                  <c:v>58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6.6999999999999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Accuracy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Accuracy (%)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Sheet1!$A$2:$A$4</c:f>
              <c:strCache>
                <c:ptCount val="3"/>
                <c:pt idx="0">
                  <c:v>Single tree</c:v>
                </c:pt>
                <c:pt idx="1">
                  <c:v>Pruned tree</c:v>
                </c:pt>
                <c:pt idx="2">
                  <c:v>Random forest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83</c:v>
                </c:pt>
                <c:pt idx="2">
                  <c:v>88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1.1999999999999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Accuracy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Accuracy (%)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Sheet1!$A$2:$A$5</c:f>
              <c:strCache>
                <c:ptCount val="4"/>
                <c:pt idx="0">
                  <c:v>Logistic</c:v>
                </c:pt>
                <c:pt idx="1">
                  <c:v>KNN</c:v>
                </c:pt>
                <c:pt idx="2">
                  <c:v>SVM</c:v>
                </c:pt>
                <c:pt idx="3">
                  <c:v>NB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86</c:v>
                </c:pt>
                <c:pt idx="1">
                  <c:v>82</c:v>
                </c:pt>
                <c:pt idx="2">
                  <c:v>88</c:v>
                </c:pt>
                <c:pt idx="3">
                  <c:v>80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1.1999999999999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Accuracy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Accuracy (%)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Sheet1!$A$2:$A$6</c:f>
              <c:strCache>
                <c:ptCount val="5"/>
                <c:pt idx="0">
                  <c:v>Fold 1</c:v>
                </c:pt>
                <c:pt idx="1">
                  <c:v>Fold 2</c:v>
                </c:pt>
                <c:pt idx="2">
                  <c:v>Fold 3</c:v>
                </c:pt>
                <c:pt idx="3">
                  <c:v>Fold 4</c:v>
                </c:pt>
                <c:pt idx="4">
                  <c:v>Fold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84</c:v>
                </c:pt>
                <c:pt idx="1">
                  <c:v>87</c:v>
                </c:pt>
                <c:pt idx="2">
                  <c:v>85</c:v>
                </c:pt>
                <c:pt idx="3">
                  <c:v>86</c:v>
                </c:pt>
                <c:pt idx="4">
                  <c:v>88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1.1999999999999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ROC: true-positive rate versus false-positive rate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Model TPR</c:v>
                </c:pt>
              </c:strCache>
            </c:strRef>
          </c:tx>
          <c:spPr>
            <a:ln w="31750">
              <a:solidFill>
                <a:srgbClr val="0F766E"/>
              </a:solidFill>
            </a:ln>
          </c:spPr>
          <c:cat>
            <c:numRef>
              <c:f>Sheet1!$A$2:$A$7</c:f>
              <c:numCache>
                <c:formatCode>General</c:formatCode>
                <c:ptCount val="6"/>
                <c:pt idx="0">
                  <c:v>0</c:v>
                </c:pt>
                <c:pt idx="1">
                  <c:v>10</c:v>
                </c:pt>
                <c:pt idx="2">
                  <c:v>20</c:v>
                </c:pt>
                <c:pt idx="3">
                  <c:v>40</c:v>
                </c:pt>
                <c:pt idx="4">
                  <c:v>70</c:v>
                </c:pt>
                <c:pt idx="5">
                  <c:v>100</c:v>
                </c:pt>
              </c:numCache>
            </c:num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45</c:v>
                </c:pt>
                <c:pt idx="2">
                  <c:v>68</c:v>
                </c:pt>
                <c:pt idx="3">
                  <c:v>85</c:v>
                </c:pt>
                <c:pt idx="4">
                  <c:v>96</c:v>
                </c:pt>
                <c:pt idx="5">
                  <c:v>100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Random</c:v>
                </c:pt>
              </c:strCache>
            </c:strRef>
          </c:tx>
          <c:spPr>
            <a:ln w="19050">
              <a:solidFill>
                <a:srgbClr val="62727B"/>
              </a:solidFill>
            </a:ln>
          </c:spPr>
          <c:cat>
            <c:numRef>
              <c:f>Sheet1!$A$2:$A$7</c:f>
              <c:numCache>
                <c:formatCode>General</c:formatCode>
                <c:ptCount val="6"/>
                <c:pt idx="0">
                  <c:v>0</c:v>
                </c:pt>
                <c:pt idx="1">
                  <c:v>10</c:v>
                </c:pt>
                <c:pt idx="2">
                  <c:v>20</c:v>
                </c:pt>
                <c:pt idx="3">
                  <c:v>40</c:v>
                </c:pt>
                <c:pt idx="4">
                  <c:v>70</c:v>
                </c:pt>
                <c:pt idx="5">
                  <c:v>100</c:v>
                </c:pt>
              </c:numCache>
            </c:num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10</c:v>
                </c:pt>
                <c:pt idx="2">
                  <c:v>20</c:v>
                </c:pt>
                <c:pt idx="3">
                  <c:v>40</c:v>
                </c:pt>
                <c:pt idx="4">
                  <c:v>70</c:v>
                </c:pt>
                <c:pt idx="5">
                  <c:v>100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Distance contribution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Distance contribution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Sheet1!$A$2:$A$4</c:f>
              <c:strCache>
                <c:ptCount val="3"/>
                <c:pt idx="0">
                  <c:v>Unscaled spend</c:v>
                </c:pt>
                <c:pt idx="1">
                  <c:v>Unscaled visits</c:v>
                </c:pt>
                <c:pt idx="2">
                  <c:v>After scaling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920</c:v>
                </c:pt>
                <c:pt idx="1">
                  <c:v>12</c:v>
                </c:pt>
                <c:pt idx="2">
                  <c:v>1.7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58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Inertia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Inertia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Sheet1!$A$2:$A$4</c:f>
              <c:strCache>
                <c:ptCount val="3"/>
                <c:pt idx="0">
                  <c:v>Initial</c:v>
                </c:pt>
                <c:pt idx="1">
                  <c:v>Iteration 2</c:v>
                </c:pt>
                <c:pt idx="2">
                  <c:v>Converged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940</c:v>
                </c:pt>
                <c:pt idx="1">
                  <c:v>310</c:v>
                </c:pt>
                <c:pt idx="2">
                  <c:v>218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81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Silhouette ×100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Silhouette ×100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Sheet1!$A$2:$A$5</c:f>
              <c:strCache>
                <c:ptCount val="4"/>
                <c:pt idx="0">
                  <c:v>k=2</c:v>
                </c:pt>
                <c:pt idx="1">
                  <c:v>k=3</c:v>
                </c:pt>
                <c:pt idx="2">
                  <c:v>k=4</c:v>
                </c:pt>
                <c:pt idx="3">
                  <c:v>k=5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</c:v>
                </c:pt>
                <c:pt idx="1">
                  <c:v>72</c:v>
                </c:pt>
                <c:pt idx="2">
                  <c:v>58</c:v>
                </c:pt>
                <c:pt idx="3">
                  <c:v>44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2.8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Ward distance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Ward distance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Sheet1!$A$2:$A$5</c:f>
              <c:strCache>
                <c:ptCount val="4"/>
                <c:pt idx="0">
                  <c:v>Merge 1</c:v>
                </c:pt>
                <c:pt idx="1">
                  <c:v>Merge 2</c:v>
                </c:pt>
                <c:pt idx="2">
                  <c:v>Merge 3</c:v>
                </c:pt>
                <c:pt idx="3">
                  <c:v>Merge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1.2</c:v>
                </c:pt>
                <c:pt idx="1">
                  <c:v>2.8</c:v>
                </c:pt>
                <c:pt idx="2">
                  <c:v>6.2</c:v>
                </c:pt>
                <c:pt idx="3">
                  <c:v>14.8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7.02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Spend lift (z)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Spend lift (z)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Sheet1!$A$2:$A$4</c:f>
              <c:strCache>
                <c:ptCount val="3"/>
                <c:pt idx="0">
                  <c:v>Cluster A</c:v>
                </c:pt>
                <c:pt idx="1">
                  <c:v>Cluster B</c:v>
                </c:pt>
                <c:pt idx="2">
                  <c:v>Cluster 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1.2</c:v>
                </c:pt>
                <c:pt idx="1">
                  <c:v>-0.4</c:v>
                </c:pt>
                <c:pt idx="2">
                  <c:v>0.3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38"/>
          <c:min val="-0.45999999999999996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Distance contrast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Distance contrast (%)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Sheet1!$A$2:$A$4</c:f>
              <c:strCache>
                <c:ptCount val="3"/>
                <c:pt idx="0">
                  <c:v>2 features</c:v>
                </c:pt>
                <c:pt idx="1">
                  <c:v>10 features</c:v>
                </c:pt>
                <c:pt idx="2">
                  <c:v>50 features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62</c:v>
                </c:pt>
                <c:pt idx="1">
                  <c:v>28</c:v>
                </c:pt>
                <c:pt idx="2">
                  <c:v>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1.3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Relative variance index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Relative variance index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Sheet1!$A$2:$A$5</c:f>
              <c:strCache>
                <c:ptCount val="4"/>
                <c:pt idx="0">
                  <c:v>Raw A index</c:v>
                </c:pt>
                <c:pt idx="1">
                  <c:v>Raw B index</c:v>
                </c:pt>
                <c:pt idx="2">
                  <c:v>Scaled A</c:v>
                </c:pt>
                <c:pt idx="3">
                  <c:v>Scaled B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1.3</c:v>
                </c:pt>
                <c:pt idx="2">
                  <c:v>100</c:v>
                </c:pt>
                <c:pt idx="3">
                  <c:v>100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4.9999999999999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Explained variance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Explained variance (%)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Sheet1!$A$2:$A$5</c:f>
              <c:strCache>
                <c:ptCount val="4"/>
                <c:pt idx="0">
                  <c:v>PC1</c:v>
                </c:pt>
                <c:pt idx="1">
                  <c:v>PC2</c:v>
                </c:pt>
                <c:pt idx="2">
                  <c:v>PC3</c:v>
                </c:pt>
                <c:pt idx="3">
                  <c:v>PC4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46</c:v>
                </c:pt>
                <c:pt idx="1">
                  <c:v>27</c:v>
                </c:pt>
                <c:pt idx="2">
                  <c:v>16</c:v>
                </c:pt>
                <c:pt idx="3">
                  <c:v>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2.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Cumulative variance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 variance (%)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Sheet1!$A$2:$A$5</c:f>
              <c:strCache>
                <c:ptCount val="4"/>
                <c:pt idx="0">
                  <c:v>PC1</c:v>
                </c:pt>
                <c:pt idx="1">
                  <c:v>PC1–2</c:v>
                </c:pt>
                <c:pt idx="2">
                  <c:v>PC1–3</c:v>
                </c:pt>
                <c:pt idx="3">
                  <c:v>PC1–4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46</c:v>
                </c:pt>
                <c:pt idx="1">
                  <c:v>73</c:v>
                </c:pt>
                <c:pt idx="2">
                  <c:v>89</c:v>
                </c:pt>
                <c:pt idx="3">
                  <c:v>96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3999999999999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Accuracy decrease (pp)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Accuracy decrease (pp)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Sheet1!$A$2:$A$5</c:f>
              <c:strCache>
                <c:ptCount val="4"/>
                <c:pt idx="0">
                  <c:v>Feature A</c:v>
                </c:pt>
                <c:pt idx="1">
                  <c:v>Feature B</c:v>
                </c:pt>
                <c:pt idx="2">
                  <c:v>Feature C</c:v>
                </c:pt>
                <c:pt idx="3">
                  <c:v>Noise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</c:v>
                </c:pt>
                <c:pt idx="1">
                  <c:v>8</c:v>
                </c:pt>
                <c:pt idx="2">
                  <c:v>4</c:v>
                </c:pt>
                <c:pt idx="3">
                  <c:v>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.95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Counts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Counts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Sheet1!$A$2:$A$4</c:f>
              <c:strCache>
                <c:ptCount val="3"/>
                <c:pt idx="0">
                  <c:v>Line items</c:v>
                </c:pt>
                <c:pt idx="1">
                  <c:v>Transactions</c:v>
                </c:pt>
                <c:pt idx="2">
                  <c:v>Unique items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52</c:v>
                </c:pt>
                <c:pt idx="1">
                  <c:v>15</c:v>
                </c:pt>
                <c:pt idx="2">
                  <c:v>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9.8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Support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Support (%)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Sheet1!$A$2:$A$5</c:f>
              <c:strCache>
                <c:ptCount val="4"/>
                <c:pt idx="0">
                  <c:v>Milk</c:v>
                </c:pt>
                <c:pt idx="1">
                  <c:v>Diapers</c:v>
                </c:pt>
                <c:pt idx="2">
                  <c:v>Beer</c:v>
                </c:pt>
                <c:pt idx="3">
                  <c:v>Milk+Diapers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67</c:v>
                </c:pt>
                <c:pt idx="1">
                  <c:v>67</c:v>
                </c:pt>
                <c:pt idx="2">
                  <c:v>53</c:v>
                </c:pt>
                <c:pt idx="3">
                  <c:v>47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7.05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Percent of baskets / rules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Percent of baskets / rules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Sheet1!$A$2:$A$4</c:f>
              <c:strCache>
                <c:ptCount val="3"/>
                <c:pt idx="0">
                  <c:v>Confidence</c:v>
                </c:pt>
                <c:pt idx="1">
                  <c:v>Baseline B</c:v>
                </c:pt>
                <c:pt idx="2">
                  <c:v>Joint support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80</c:v>
                </c:pt>
                <c:pt idx="1">
                  <c:v>50</c:v>
                </c:pt>
                <c:pt idx="2">
                  <c:v>40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2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Candidates after pruning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Candidates after pruning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Sheet1!$A$2:$A$5</c:f>
              <c:strCache>
                <c:ptCount val="4"/>
                <c:pt idx="0">
                  <c:v>Level 1</c:v>
                </c:pt>
                <c:pt idx="1">
                  <c:v>Level 2</c:v>
                </c:pt>
                <c:pt idx="2">
                  <c:v>Level 3</c:v>
                </c:pt>
                <c:pt idx="3">
                  <c:v>Level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</c:v>
                </c:pt>
                <c:pt idx="1">
                  <c:v>36</c:v>
                </c:pt>
                <c:pt idx="2">
                  <c:v>18</c:v>
                </c:pt>
                <c:pt idx="3">
                  <c:v>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1.4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Attach rate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Attach rate (%)</c:v>
                </c:pt>
              </c:strCache>
            </c:strRef>
          </c:tx>
          <c:spPr>
            <a:solidFill>
              <a:srgbClr val="0F766E"/>
            </a:solidFill>
            <a:ln>
              <a:solidFill>
                <a:srgbClr val="0F766E"/>
              </a:solidFill>
            </a:ln>
          </c:spPr>
          <c:cat>
            <c:strRef>
              <c:f>Sheet1!$A$2:$A$4</c:f>
              <c:strCache>
                <c:ptCount val="3"/>
                <c:pt idx="0">
                  <c:v>Historical rule</c:v>
                </c:pt>
                <c:pt idx="1">
                  <c:v>Pilot control</c:v>
                </c:pt>
                <c:pt idx="2">
                  <c:v>Pilot offer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</c:v>
                </c:pt>
                <c:pt idx="1">
                  <c:v>13</c:v>
                </c:pt>
                <c:pt idx="2">
                  <c:v>18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0.7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fredang.github.io/data-mining-ml-labs/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fredang.github.io/data-mining-ml-labs/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fredang.github.io/data-mining-ml-labs/" TargetMode="Externa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fredang.github.io/data-mining-ml-labs/" TargetMode="Externa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fredang.github.io/data-mining-ml-labs/" TargetMode="Externa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4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fredang.github.io/data-mining-ml-labs/" TargetMode="Externa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fredang.github.io/data-mining-ml-labs/" TargetMode="Externa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5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6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8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fredang.github.io/data-mining-ml-labs/" TargetMode="Externa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fredang.github.io/data-mining-ml-labs/" TargetMode="Externa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fredang.github.io/data-mining-ml-labs/" TargetMode="Externa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9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0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1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2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3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fredang.github.io/data-mining-ml-labs/" TargetMode="Externa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fredang.github.io/data-mining-ml-labs/" TargetMode="Externa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4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5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6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7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8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fredang.github.io/data-mining-ml-labs/" TargetMode="Externa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fredang.github.io/data-mining-ml-labs/" TargetMode="Externa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9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0.xml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1.xml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2.xml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3.xml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fredang.github.io/data-mining-ml-labs/" TargetMode="External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ata-pipeline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715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43891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F766E"/>
                </a:solidFill>
                <a:latin typeface="Aptos"/>
              </a:rPr>
              <a:t>WSQ COURSE SLIDES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43000"/>
            <a:ext cx="466344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0B253A"/>
                </a:solidFill>
                <a:latin typeface="Aptos"/>
              </a:rPr>
              <a:t>Data Mining and Machine Learning Fundamentals for Beginners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703320"/>
            <a:ext cx="448056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62727B"/>
                </a:solidFill>
                <a:latin typeface="Aptos"/>
              </a:rPr>
              <a:t>Course Code  TGS-2020503264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62727B"/>
                </a:solidFill>
                <a:latin typeface="Aptos"/>
              </a:rPr>
              <a:t>Data Analytics  ·  MED-ACE-3018-1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4754880"/>
            <a:ext cx="4526280" cy="6858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956048"/>
            <a:ext cx="4206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ptos"/>
              </a:rPr>
              <a:t>PYTHON + STREAMLIT · 15 LABS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897880"/>
            <a:ext cx="466344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2727B"/>
                </a:solidFill>
                <a:latin typeface="Aptos"/>
              </a:rPr>
              <a:t>Version 17.0 · 10 September 2026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62727B"/>
                </a:solidFill>
                <a:latin typeface="Aptos"/>
              </a:rPr>
              <a:t>Tertiary Infotech Academy Pte Ltd · UEN 201200696W</a:t>
            </a:r>
          </a:p>
        </p:txBody>
      </p:sp>
    </p:spTree>
  </p:cSld>
  <p:transition spd="fast">
    <p:fade/>
  </p:transition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COURSE ADMINISTRATION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Digital attendance · evidence trail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965960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19" y="2286000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F766E"/>
                </a:solidFill>
                <a:latin typeface="Aptos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017520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AM check-in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1965960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2286000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B253A"/>
                </a:solidFill>
                <a:latin typeface="Apto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017520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PM check-in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965960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0" y="2286000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59E0B"/>
                </a:solidFill>
                <a:latin typeface="Apto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017520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Assessment check-in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840" y="1965960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19" y="2286000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3B82F6"/>
                </a:solidFill>
                <a:latin typeface="Apto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3017520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Attendance ≥75%</a:t>
            </a:r>
          </a:p>
        </p:txBody>
      </p:sp>
    </p:spTree>
  </p:cSld>
  <p:transition spd="fast">
    <p:fade/>
  </p:transition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COURSE ADMINISTRATION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Your trainer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3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1938528"/>
            <a:ext cx="1828800" cy="182880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2468880"/>
            <a:ext cx="12801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3100" b="1">
                <a:solidFill>
                  <a:srgbClr val="FFFFFF"/>
                </a:solidFill>
                <a:latin typeface="Aptos"/>
              </a:rPr>
              <a:t>AA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3240" y="1938528"/>
            <a:ext cx="7955279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>
                <a:solidFill>
                  <a:srgbClr val="0B253A"/>
                </a:solidFill>
                <a:latin typeface="Aptos"/>
              </a:rPr>
              <a:t>Dr Alfred Ang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2670048"/>
            <a:ext cx="7635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0">
                <a:solidFill>
                  <a:srgbClr val="62727B"/>
                </a:solidFill>
                <a:latin typeface="Aptos"/>
              </a:rPr>
              <a:t>Principal trainer · data science, machine learning, optimisation, and applied AI education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822191"/>
            <a:ext cx="22860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Facilitation focus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63240" y="4251960"/>
            <a:ext cx="76809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Mechanisms · reproducible evidence · business interpretation · responsible decisions</a:t>
            </a:r>
          </a:p>
        </p:txBody>
      </p:sp>
    </p:spTree>
  </p:cSld>
  <p:transition spd="fast">
    <p:fade/>
  </p:transition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COURSE ADMINISTRATION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Ground rules for an evidence-led lab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94054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891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Be punctual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324100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525268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03352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838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80716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Participate actively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16356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4364736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872990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2785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0184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Ask questions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0303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204204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712458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67322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9652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Respect differences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842504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8043672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51926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06790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99120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Protect data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681972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9883140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391394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44625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38588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Verify claims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LESSON PLAN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Day 1 · prepare, predict, and classify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94054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891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Frame decisions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324100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525268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03352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838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80716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Audit data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16356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4364736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872990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2785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0184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Join + scale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0303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204204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712458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67322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9652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Regression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842504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8043672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51926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06790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99120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Classification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681972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9883140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391394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44625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38588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Cross-validation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LESSON PLAN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Day 2 · discover, compress, and associate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94054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891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Threshold metrics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324100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525268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03352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838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80716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Clustering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16356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4364736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872990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2785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0184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Dendrogram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0303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204204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712458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67322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9652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PCA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842504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8043672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51926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06790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99120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Association rules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681972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9883140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391394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44625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38588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WA + PP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COURSE CONTRACT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Learning outcomes mapped to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719072"/>
            <a:ext cx="5230368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1874519"/>
            <a:ext cx="489204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2A43"/>
                </a:solidFill>
                <a:latin typeface="Aptos"/>
              </a:rPr>
              <a:t>LO1: Apply data mining and machine learning principles to assess business insights.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1719072"/>
            <a:ext cx="5230368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36792" y="1874519"/>
            <a:ext cx="489204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2A43"/>
                </a:solidFill>
                <a:latin typeface="Aptos"/>
              </a:rPr>
              <a:t>LO2: Integrate and aggregate information from multiple datasets to build data models.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2798063"/>
            <a:ext cx="5230368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" y="2953511"/>
            <a:ext cx="489204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2A43"/>
                </a:solidFill>
                <a:latin typeface="Aptos"/>
              </a:rPr>
              <a:t>LO3: Apply predictive data modelling techniques to identify underlying trends in data.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2798063"/>
            <a:ext cx="5230368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36792" y="2953511"/>
            <a:ext cx="489204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2A43"/>
                </a:solidFill>
                <a:latin typeface="Aptos"/>
              </a:rPr>
              <a:t>LO4: Apply machine learning classification techniques to gain new insights from data.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3877056"/>
            <a:ext cx="5230368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4032504"/>
            <a:ext cx="489204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2A43"/>
                </a:solidFill>
                <a:latin typeface="Aptos"/>
              </a:rPr>
              <a:t>LO5: Apply clustering techniques to discover patterns, visualise evidence, and make decisions.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877056"/>
            <a:ext cx="5230368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36792" y="4032504"/>
            <a:ext cx="489204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2A43"/>
                </a:solidFill>
                <a:latin typeface="Aptos"/>
              </a:rPr>
              <a:t>LO6: Develop prototype algorithms with dimension-reduction and feature-ranking techniques.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4956048"/>
            <a:ext cx="5230368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0392" y="5111496"/>
            <a:ext cx="489204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2A43"/>
                </a:solidFill>
                <a:latin typeface="Aptos"/>
              </a:rPr>
              <a:t>LO7: Construct association rules to identify patterns across transactional datasets.</a:t>
            </a:r>
          </a:p>
        </p:txBody>
      </p:sp>
    </p:spTree>
  </p:cSld>
  <p:transition spd="fast">
    <p:fade/>
  </p:transition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WA + PP · OPEN BOOK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Assessment evidence chain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37800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286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Learn mechanisms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1993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893161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8536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4022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609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Practise in labs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99355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100523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92724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4758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5971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Capture evidence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671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307884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0085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5494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3332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Answer WA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31407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515246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07447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231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0694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Perform PP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SKILLS FRAMEWORK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TSC abilities A1–A4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B253A"/>
                </a:solidFill>
                <a:latin typeface="Aptos Display"/>
              </a:rPr>
              <a:t>A1 Integrate information from multiple datasets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1965960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A2 Apply predictive modelling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2898648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A3 Identify patterns across datasets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3831336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A4 Develop prototype algorithms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0" y="4764024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</p:spTree>
  </p:cSld>
  <p:transition spd="fast">
    <p:fade/>
  </p:transition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SKILLS FRAMEWORK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TSC abilities A5–A8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B253A"/>
                </a:solidFill>
                <a:latin typeface="Aptos Display"/>
              </a:rPr>
              <a:t>A5 Decide which patterns warrant further analysis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1965960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A6 Assemble aggregations into data models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2898648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A7 Use machine learning for new insight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3831336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A8 Assess organisational impact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0" y="4764024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</p:spTree>
  </p:cSld>
  <p:transition spd="fast">
    <p:fade/>
  </p:transition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SKILLS FRAMEWORK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TSC ability A9 · interactive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A9 Support interactive data visualisation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1965960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proof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2898648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readable chart + labels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interaction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31336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selected fields + parameters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decision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764024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interpretation + limitation</a:t>
            </a:r>
          </a:p>
        </p:txBody>
      </p:sp>
    </p:spTree>
  </p:cSld>
  <p:transition spd="fast">
    <p:fade/>
  </p:transition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SKILLS FRAMEWORK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TSC knowledge K1–K4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B253A"/>
                </a:solidFill>
                <a:latin typeface="Aptos Display"/>
              </a:rPr>
              <a:t>K1 Data collection, mining, cleaning and analysis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1965960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K2 Statistical principles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2898648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K3 Communicating data effectively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3831336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K4 Organisational domains and processes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0" y="4764024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</p:spTree>
  </p:cSld>
  <p:transition spd="fast">
    <p:fade/>
  </p:transition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SKILLS FRAMEWORK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TSC knowledge K5–K8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B253A"/>
                </a:solidFill>
                <a:latin typeface="Aptos Display"/>
              </a:rPr>
              <a:t>K5 Exploratory visual analysis and predictive modelling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1965960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K6 Machine-learning algorithms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2898648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K7 Building a data model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3831336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B253A"/>
                </a:solidFill>
                <a:latin typeface="Aptos Display"/>
              </a:rPr>
              <a:t>K8 Established and novel analytical techniques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0" y="4764024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</p:spTree>
  </p:cSld>
  <p:transition spd="fast">
    <p:fade/>
  </p:transition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SKILLS FRAMEWORK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TSC knowledge K9–K10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K9 Applying software tools to analyse 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1965960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K10 Statistical and experimental techniques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2898648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evidence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31336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runnable central app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mapping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764024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WA Q1–Q10</a:t>
            </a:r>
          </a:p>
        </p:txBody>
      </p:sp>
    </p:spTree>
  </p:cSld>
  <p:transition spd="fast">
    <p:fade/>
  </p:transition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PYTHON + STREAMLIT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Central app architecture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37800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286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Lab CSV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1993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893161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8536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4022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609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pandas validation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99355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100523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92724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4758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5971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scikit-learn pipeline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671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307884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0085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5494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3332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metrics + chart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31407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515246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07447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231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0694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exported evidence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RESPONSIBLE PRACTICE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Model outputs require judgement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A visually convincing chart can hide leakage, bias, or a weak sample.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Pair every result with a baseline, error metric, data scope, and human review.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A second learner can reproduce the output from the same file and parameters.</a:t>
            </a:r>
          </a:p>
        </p:txBody>
      </p:sp>
    </p:spTree>
  </p:cSld>
  <p:transition spd="fast">
    <p:fade/>
  </p:transition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16 HOURS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Two-day learning arc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1375518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2663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7527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064622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Frame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06131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262486" y="1965960"/>
            <a:ext cx="1375518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639350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9421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17934" y="3182112"/>
            <a:ext cx="1064622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Prepare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638005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839173" y="1965960"/>
            <a:ext cx="1375518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216037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7090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94621" y="3182112"/>
            <a:ext cx="1064622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Predict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214692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5415860" y="1965960"/>
            <a:ext cx="1375518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792724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4758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1308" y="3182112"/>
            <a:ext cx="1064622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Classify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791379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6992547" y="1965960"/>
            <a:ext cx="1375518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369410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2427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47995" y="3182112"/>
            <a:ext cx="1064622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Discover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36806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8569234" y="1965960"/>
            <a:ext cx="1375518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946097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0096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24682" y="3182112"/>
            <a:ext cx="1064622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Compress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9944753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10145921" y="1965960"/>
            <a:ext cx="1375518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0522784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7764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01369" y="3182112"/>
            <a:ext cx="1064622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Associate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COURSE ADMINISTRATION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LMS evidence flow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37800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286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Complete document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1993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893161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8536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4022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609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Capture lab evidence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99355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100523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92724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4758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5971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Upload to LMS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671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307884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0085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5494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3332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Assessor reviews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31407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515246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07447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231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0694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 / NYC recorded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OPEN BOOK · 2 HOURS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Assessment briefing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Unapproved collaboration or copied work invalidates individual evidence.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Use only approved course materials; complete every item and keep evidence traceable.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WA answers and PP outputs are uploaded to the LMS and signed off by the assessor.</a:t>
            </a:r>
          </a:p>
        </p:txBody>
      </p:sp>
    </p:spTree>
  </p:cSld>
  <p:transition spd="fast">
    <p:fade/>
  </p:transition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VISUAL LEGEND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How to read the technical slides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19" y="2148840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F766E"/>
                </a:solidFill>
                <a:latin typeface="Aptos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880360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Mechanism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1828800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2148840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B253A"/>
                </a:solidFill>
                <a:latin typeface="Apto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2880360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Contract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828800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0" y="2148840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59E0B"/>
                </a:solidFill>
                <a:latin typeface="Apto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880360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Calculation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840" y="1828800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19" y="2148840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3B82F6"/>
                </a:solidFill>
                <a:latin typeface="Apto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880360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Evidence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4800600"/>
            <a:ext cx="10561320" cy="82296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5047488"/>
            <a:ext cx="100126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The final control panel on each concept names a failure, a control, and observable proof.</a:t>
            </a:r>
          </a:p>
        </p:txBody>
      </p:sp>
    </p:spTree>
  </p:cSld>
  <p:transition spd="fast">
    <p:fade/>
  </p:transition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D1FAE5"/>
                </a:solidFill>
                <a:latin typeface="Aptos"/>
              </a:rPr>
              <a:t>TOPIC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69848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3900" b="1">
                <a:solidFill>
                  <a:srgbClr val="FFFFFF"/>
                </a:solidFill>
                <a:latin typeface="Aptos"/>
              </a:rPr>
              <a:t>Overview of Data Mining and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788920"/>
            <a:ext cx="78638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0">
                <a:solidFill>
                  <a:srgbClr val="D1FAE5"/>
                </a:solidFill>
                <a:latin typeface="Aptos"/>
              </a:rPr>
              <a:t>LO1 · A8 · K4 · From business question to monitored evidence</a:t>
            </a:r>
          </a:p>
        </p:txBody>
      </p:sp>
      <p:pic>
        <p:nvPicPr>
          <p:cNvPr id="6" name="Picture 5" descr="human-analytics-collabo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3749039"/>
            <a:ext cx="4279392" cy="2423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8" y="5349240"/>
            <a:ext cx="6629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Mechanism → contract → calculation → evidence →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21</a:t>
            </a:r>
          </a:p>
        </p:txBody>
      </p:sp>
    </p:spTree>
  </p:cSld>
  <p:transition spd="fast">
    <p:fade/>
  </p:transition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1 · LO1 · A8 · K4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CRISP-DM evidence loop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94054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891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Business understanding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324100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525268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03352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838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80716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Data understanding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16356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4364736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872990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2785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0184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Preparation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0303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204204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712458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67322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9652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Modelling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842504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8043672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51926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06790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99120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Evaluation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681972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9883140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391394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44625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38588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Deployment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1 · LO1 · A8 · K4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CRISP-DM evidence loop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objective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1965960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measurable decision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unit_of_analysis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2898648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one row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target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31336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observed outcome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acceptance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764024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metric + threshold</a:t>
            </a:r>
          </a:p>
        </p:txBody>
      </p:sp>
    </p:spTree>
  </p:cSld>
  <p:transition spd="fast">
    <p:fade/>
  </p:transition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1 · LO1 · A8 · K4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CRISP-DM evidence loop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decision value = benefit of correct action − cost of errors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$80 benefit − $18 expected error cost = $62 net value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expected decision value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1 · LO1 · A8 · K4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CRISP-DM evidence loop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25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A reviewer can trace every model output to a decision and acceptance rule.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1 · LO1 · A8 · K4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CRISP-DM evidence loop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Optimising a convenient model metric that does not change the business decision.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Write the decision, owner, action, and cost matrix before modelling.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A reviewer can trace every model output to a decision and acceptance rule.</a:t>
            </a:r>
          </a:p>
        </p:txBody>
      </p:sp>
    </p:spTree>
  </p:cSld>
  <p:transition spd="fast">
    <p:fade/>
  </p:transition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1 · LO1 · A8 · K4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Machine-learning system boundary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94054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891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Source system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324100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525268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03352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838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80716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Feature pipeline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16356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4364736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872990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2785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0184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Model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0303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204204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712458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67322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9652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Decision rule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842504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8043672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51926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06790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99120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Human action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681972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9883140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391394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44625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38588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Outcome log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1 · LO1 · A8 · K4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Machine-learning system boundary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inputs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1965960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versioned fields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model_artifact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2898648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fitted parameters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threshold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31336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operating point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outcome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764024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delayed ground truth</a:t>
            </a:r>
          </a:p>
        </p:txBody>
      </p:sp>
    </p:spTree>
  </p:cSld>
  <p:transition spd="fast">
    <p:fade/>
  </p:transition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1 · LO1 · A8 · K4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Machine-learning system boundary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prediction ≠ decision; decision = policy(prediction, context)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0.73 churn probability + threshold 0.65 → retention review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decision trace coverage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1 · LO1 · A8 · K4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Machine-learning system boundary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30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Logs contain input version, score, threshold, action, and later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1 · LO1 · A8 · K4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Machine-learning system boundary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31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Treating a prediction as an instruction and hiding ownership of the final action.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Separate inference, policy, and human approval in the architecture.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Logs contain input version, score, threshold, action, and later outcome.</a:t>
            </a:r>
          </a:p>
        </p:txBody>
      </p:sp>
    </p:spTree>
  </p:cSld>
  <p:transition spd="fast">
    <p:fade/>
  </p:transition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1 · LO1 · A8 · K4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Supervised versus unsupervised evidence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32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65392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0878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Labelled rows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243834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445002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13123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67987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00450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Loss function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03036" y="3611880"/>
            <a:ext cx="201167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204204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172325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718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9652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Fitted predictor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76223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963406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931527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8639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18854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Hold-out score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1 · LO1 · A8 · K4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Supervised versus unsupervised evidence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33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supervised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1965960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X plus 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unsupervised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2898648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X only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classification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31336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discrete 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regression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764024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continuous y</a:t>
            </a:r>
          </a:p>
        </p:txBody>
      </p:sp>
    </p:spTree>
  </p:cSld>
  <p:transition spd="fast">
    <p:fade/>
  </p:transition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1 · LO1 · A8 · K4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Supervised versus unsupervised evidence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34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supervised minimises error to y; clustering minimises within-group distance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churn label trains a classifier; spend patterns form clusters without labels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external or internal validation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1 · LO1 · A8 · K4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Supervised versus unsupervised evidence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35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507492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45262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0F766E"/>
                </a:solidFill>
                <a:latin typeface="Aptos"/>
              </a:rPr>
              <a:t>SUPERVISED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88720" y="2788920"/>
            <a:ext cx="4251960" cy="53035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0" y="2916936"/>
            <a:ext cx="388620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02A43"/>
                </a:solidFill>
                <a:latin typeface="Aptos"/>
              </a:rPr>
              <a:t>Labelled target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88720" y="3566160"/>
            <a:ext cx="4251960" cy="53035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0" y="3694176"/>
            <a:ext cx="388620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02A43"/>
                </a:solidFill>
                <a:latin typeface="Aptos"/>
              </a:rPr>
              <a:t>Predict held-out 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88720" y="4343400"/>
            <a:ext cx="4251960" cy="53035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0" y="4471416"/>
            <a:ext cx="388620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02A43"/>
                </a:solidFill>
                <a:latin typeface="Aptos"/>
              </a:rPr>
              <a:t>Loss / class metric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1828800"/>
            <a:ext cx="507492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59" y="2148840"/>
            <a:ext cx="45262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"/>
              </a:rPr>
              <a:t>UNSUPERVISED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75120" y="2788920"/>
            <a:ext cx="4251960" cy="53035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2916936"/>
            <a:ext cx="388620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02A43"/>
                </a:solidFill>
                <a:latin typeface="Aptos"/>
              </a:rPr>
              <a:t>No target label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0" y="3566160"/>
            <a:ext cx="4251960" cy="53035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0" y="3694176"/>
            <a:ext cx="388620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02A43"/>
                </a:solidFill>
                <a:latin typeface="Aptos"/>
              </a:rPr>
              <a:t>Discover structure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75120" y="4343400"/>
            <a:ext cx="4251960" cy="53035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0" y="4471416"/>
            <a:ext cx="388620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02A43"/>
                </a:solidFill>
                <a:latin typeface="Aptos"/>
              </a:rPr>
              <a:t>Stability / utility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5989320"/>
            <a:ext cx="103327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The evidence contract changes with the learning question; the scores are not interchangeable.</a:t>
            </a:r>
          </a:p>
        </p:txBody>
      </p:sp>
    </p:spTree>
  </p:cSld>
  <p:transition spd="fast">
    <p:fade/>
  </p:transition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1 · LO1 · A8 · K4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Supervised versus unsupervised evidence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36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Calling clusters 'true customer types' without external validation.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Use business review, stability tests, and later outcomes to validate segments.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The evaluation method matches the presence or absence of ground truth.</a:t>
            </a:r>
          </a:p>
        </p:txBody>
      </p:sp>
    </p:spTree>
  </p:cSld>
  <p:transition spd="fast">
    <p:fade/>
  </p:transition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1 · LO1 · A8 · K4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Train–evaluate–deploy lifecycle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37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94054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891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Split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324100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525268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03352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838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80716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Fit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16356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4364736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872990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2785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0184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Validate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0303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204204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712458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67322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9652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Freeze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842504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8043672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51926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06790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99120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Serve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681972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9883140" y="1965960"/>
            <a:ext cx="16383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391394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44625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38588" y="3182112"/>
            <a:ext cx="1327404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Monitor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1 · LO1 · A8 · K4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Train–evaluate–deploy lifecycle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38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train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1965960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parameter learning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validation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2898648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selection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test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31336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final estimate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production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764024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unseen stream</a:t>
            </a:r>
          </a:p>
        </p:txBody>
      </p:sp>
    </p:spTree>
  </p:cSld>
  <p:transition spd="fast">
    <p:fade/>
  </p:transition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1 · LO1 · A8 · K4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Train–evaluate–deploy lifecycle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39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generalisation gap = training score − test score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0.96 train − 0.81 test = 0.15 gap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generalisation gap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1 · LO1 · A8 · K4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Train–evaluate–deploy lifecycle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40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Re-running the experiment with the same seed reproduces the split and score.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1 · LO1 · A8 · K4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Train–evaluate–deploy lifecycle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41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Repeatedly tuning against the test set leaks test information into model selection.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Lock a final test set and record experiment parameters separately.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Re-running the experiment with the same seed reproduces the split and score.</a:t>
            </a:r>
          </a:p>
        </p:txBody>
      </p:sp>
    </p:spTree>
  </p:cSld>
  <p:transition spd="fast">
    <p:fade/>
  </p:transition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1 · LO1 · A8 · K4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Business insight impact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42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37800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286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Pattern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1993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893161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8536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4022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609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Hypothesis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99355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100523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92724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4758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5971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Action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671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307884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0085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5494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3332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Experiment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31407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515246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07447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231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0694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Measured outcome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1 · LO1 · A8 · K4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Business insight impact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43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segment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1965960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affected population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2898648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operational change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guardrail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31336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harm limit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outcome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764024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causal measure</a:t>
            </a:r>
          </a:p>
        </p:txBody>
      </p:sp>
    </p:spTree>
  </p:cSld>
  <p:transition spd="fast">
    <p:fade/>
  </p:transition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1 · LO1 · A8 · K4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Business insight impact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44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uplift = outcome_treatment − outcome_control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18.4% retention − 14.1% control = 4.3 pp uplift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uplift and guardrails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1 · LO1 · A8 · K4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Business insight impact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45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The insight statement includes scope, uncertainty, expected action, and limitation.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1 · LO1 · A8 · K4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Business insight impact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46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Reporting correlation as causal impact.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Use controlled trials or explicitly label observational evidence.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The insight statement includes scope, uncertainty, expected action, and limitation.</a:t>
            </a:r>
          </a:p>
        </p:txBody>
      </p:sp>
    </p:spTree>
  </p:cSld>
  <p:transition spd="fast">
    <p:fade/>
  </p:transition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1 · PRACTICE 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Lab 01 · Data audit and business question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47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3337560" cy="40690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76272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CENTRAL APP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788920"/>
            <a:ext cx="283464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Data audit &amp; preparation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182880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9160" y="199339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INPUT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198424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Lab 01 mock CSV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60" y="306324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09160" y="322783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B253A"/>
                </a:solidFill>
                <a:latin typeface="Aptos"/>
              </a:rPr>
              <a:t>MECHANISM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21868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Data audit &amp; preparation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429768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446227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EVIDENCE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445312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metric + chart + interpretation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5650992"/>
            <a:ext cx="67665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62727B"/>
                </a:solidFill>
                <a:latin typeface="Aptos"/>
              </a:rPr>
              <a:t>The full click path, commands, checks, troubleshooting, and cleanup are in the Learner Guide and lab folder.</a:t>
            </a:r>
          </a:p>
        </p:txBody>
      </p:sp>
      <p:sp>
        <p:nvSpPr>
          <p:cNvPr id="31" name="Rounded Rectangle 30">
            <a:hlinkClick r:id="rId2"/>
          </p:cNvPr>
          <p:cNvSpPr/>
          <p:nvPr/>
        </p:nvSpPr>
        <p:spPr>
          <a:xfrm>
            <a:off x="1005840" y="4956048"/>
            <a:ext cx="2880360" cy="347472"/>
          </a:xfrm>
          <a:prstGeom prst="roundRect">
            <a:avLst>
              <a:gd name="adj" fmla="val 16000"/>
            </a:avLst>
          </a:prstGeom>
          <a:solidFill>
            <a:srgbClr val="0F766E"/>
          </a:solidFill>
          <a:ln w="1397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none"/>
          <a:lstStyle/>
          <a:p>
            <a:pPr algn="ctr"/>
            <a:r>
              <a:rPr sz="1150" b="1" u="none">
                <a:solidFill>
                  <a:srgbClr val="FFFFFF"/>
                </a:solidFill>
                <a:latin typeface="Aptos"/>
              </a:rPr>
              <a:t>OPEN CENTRAL LAB PORTAL</a:t>
            </a:r>
          </a:p>
        </p:txBody>
      </p:sp>
    </p:spTree>
  </p:cSld>
  <p:transition spd="fast">
    <p:fade/>
  </p:transition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VERIFY · FAILURE CLINIC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Lab 01 · acceptance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48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F766E"/>
                </a:solidFill>
                <a:latin typeface="Aptos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Record inputs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B253A"/>
                </a:solidFill>
                <a:latin typeface="Apto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Capture parameters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59E0B"/>
                </a:solidFill>
                <a:latin typeface="Apto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Export results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8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3B82F6"/>
                </a:solidFill>
                <a:latin typeface="Apto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Explain limits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4892040"/>
            <a:ext cx="10561320" cy="7772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560" y="5102352"/>
            <a:ext cx="101041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"/>
              </a:rPr>
              <a:t>PASS: Data audit and business question produces a reproducible artifact and a defensible interpretation—not only a screenshot.</a:t>
            </a:r>
          </a:p>
        </p:txBody>
      </p:sp>
    </p:spTree>
  </p:cSld>
  <p:transition spd="fast">
    <p:fade/>
  </p:transition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1 · PRACTICE 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Lab 15 · Detect and explain anomalies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49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3337560" cy="40690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76272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CENTRAL APP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788920"/>
            <a:ext cx="283464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Anomaly detection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182880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9160" y="199339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INPUT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198424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Lab 15 mock CSV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60" y="306324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09160" y="322783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B253A"/>
                </a:solidFill>
                <a:latin typeface="Aptos"/>
              </a:rPr>
              <a:t>MECHANISM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21868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Anomaly detection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429768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446227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EVIDENCE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445312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metric + chart + interpretation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5650992"/>
            <a:ext cx="67665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62727B"/>
                </a:solidFill>
                <a:latin typeface="Aptos"/>
              </a:rPr>
              <a:t>The full click path, commands, checks, troubleshooting, and cleanup are in the Learner Guide and lab folder.</a:t>
            </a:r>
          </a:p>
        </p:txBody>
      </p:sp>
      <p:sp>
        <p:nvSpPr>
          <p:cNvPr id="31" name="Rounded Rectangle 30">
            <a:hlinkClick r:id="rId2"/>
          </p:cNvPr>
          <p:cNvSpPr/>
          <p:nvPr/>
        </p:nvSpPr>
        <p:spPr>
          <a:xfrm>
            <a:off x="1005840" y="4956048"/>
            <a:ext cx="2880360" cy="347472"/>
          </a:xfrm>
          <a:prstGeom prst="roundRect">
            <a:avLst>
              <a:gd name="adj" fmla="val 16000"/>
            </a:avLst>
          </a:prstGeom>
          <a:solidFill>
            <a:srgbClr val="0F766E"/>
          </a:solidFill>
          <a:ln w="1397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none"/>
          <a:lstStyle/>
          <a:p>
            <a:pPr algn="ctr"/>
            <a:r>
              <a:rPr sz="1150" b="1" u="none">
                <a:solidFill>
                  <a:srgbClr val="FFFFFF"/>
                </a:solidFill>
                <a:latin typeface="Aptos"/>
              </a:rPr>
              <a:t>OPEN CENTRAL LAB PORTAL</a:t>
            </a:r>
          </a:p>
        </p:txBody>
      </p:sp>
    </p:spTree>
  </p:cSld>
  <p:transition spd="fast">
    <p:fade/>
  </p:transition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VERIFY · FAILURE CLINIC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Lab 15 · acceptance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50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F766E"/>
                </a:solidFill>
                <a:latin typeface="Aptos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Record inputs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B253A"/>
                </a:solidFill>
                <a:latin typeface="Apto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Capture parameters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59E0B"/>
                </a:solidFill>
                <a:latin typeface="Apto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Export results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8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3B82F6"/>
                </a:solidFill>
                <a:latin typeface="Apto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Explain limits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4892040"/>
            <a:ext cx="10561320" cy="7772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560" y="5102352"/>
            <a:ext cx="101041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"/>
              </a:rPr>
              <a:t>PASS: Detect and explain anomalies produces a reproducible artifact and a defensible interpretation—not only a screenshot.</a:t>
            </a:r>
          </a:p>
        </p:txBody>
      </p:sp>
    </p:spTree>
  </p:cSld>
  <p:transition spd="fast">
    <p:fade/>
  </p:transition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D1FAE5"/>
                </a:solidFill>
                <a:latin typeface="Aptos"/>
              </a:rPr>
              <a:t>TOPIC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69848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3900" b="1">
                <a:solidFill>
                  <a:srgbClr val="FFFFFF"/>
                </a:solidFill>
                <a:latin typeface="Aptos"/>
              </a:rPr>
              <a:t>Data Preparation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788920"/>
            <a:ext cx="78638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0">
                <a:solidFill>
                  <a:srgbClr val="D1FAE5"/>
                </a:solidFill>
                <a:latin typeface="Aptos"/>
              </a:rPr>
              <a:t>LO2 · A1/A6 · K1/K7 · Reliable tables before reliable models</a:t>
            </a:r>
          </a:p>
        </p:txBody>
      </p:sp>
      <p:pic>
        <p:nvPicPr>
          <p:cNvPr id="6" name="Picture 5" descr="data-pipeline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3749039"/>
            <a:ext cx="4279392" cy="2423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8" y="5349240"/>
            <a:ext cx="6629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Mechanism → contract → calculation → evidence →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51</a:t>
            </a:r>
          </a:p>
        </p:txBody>
      </p:sp>
    </p:spTree>
  </p:cSld>
  <p:transition spd="fast">
    <p:fade/>
  </p:transition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2 · LO2 · A1/A6 · K1/K7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Schema and data types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52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37800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286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Ingest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1993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893161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8536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4022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609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Profile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99355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100523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92724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4758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5971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Coerce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671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307884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0085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5494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3332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Validate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31407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515246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07447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231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0694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Quarantine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2 · LO2 · A1/A6 · K1/K7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Schema and data types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53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customer_id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1965960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string key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event_time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2898648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datetime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amount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31336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float &gt;= 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target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764024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explicit role</a:t>
            </a:r>
          </a:p>
        </p:txBody>
      </p:sp>
    </p:spTree>
  </p:cSld>
  <p:transition spd="fast">
    <p:fade/>
  </p:transition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2 · LO2 · A1/A6 · K1/K7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Schema and data types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54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validity rate = valid rows / received rows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9,720 valid / 10,000 received = 97.2%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validity rate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2 · LO2 · A1/A6 · K1/K7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Schema and data types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55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Row counts reconcile across received, accepted, and quarantined records.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2 · LO2 · A1/A6 · K1/K7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Schema and data types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56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Silent type coercion turns invalid values into missing values without an audit trail.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Validate ranges and log rejected rows before conversion.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Row counts reconcile across received, accepted, and quarantined records.</a:t>
            </a:r>
          </a:p>
        </p:txBody>
      </p:sp>
    </p:spTree>
  </p:cSld>
  <p:transition spd="fast">
    <p:fade/>
  </p:transition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2 · LO2 · A1/A6 · K1/K7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Filtering and row selection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57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65392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0878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Predicate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243834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445002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13123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67987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00450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Boolean mask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03036" y="3611880"/>
            <a:ext cx="201167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204204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172325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718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9652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Subset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76223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963406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931527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8639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18854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Row-count reconciliation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2 · LO2 · A1/A6 · K1/K7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Filtering and row selection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58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predicate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1965960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amount &gt; 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scope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2898648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date window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null policy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31336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explicit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index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764024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preserved identifier</a:t>
            </a:r>
          </a:p>
        </p:txBody>
      </p:sp>
    </p:spTree>
  </p:cSld>
  <p:transition spd="fast">
    <p:fade/>
  </p:transition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2 · LO2 · A1/A6 · K1/K7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Filtering and row selection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59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selected = Σ I(condition is true)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1,250 rows satisfy region='North' and amount&gt;0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selection rate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2 · LO2 · A1/A6 · K1/K7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Filtering and row selection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60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Selected + excluded + null-policy rows equals the source row count.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2 · LO2 · A1/A6 · K1/K7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Filtering and row selection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61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A filter unintentionally removes nulls because null comparisons evaluate false.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Profile null counts before and after every predicate.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Selected + excluded + null-policy rows equals the source row count.</a:t>
            </a:r>
          </a:p>
        </p:txBody>
      </p:sp>
    </p:spTree>
  </p:cSld>
  <p:transition spd="fast">
    <p:fade/>
  </p:transition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2 · LO2 · A1/A6 · K1/K7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Join and concatenate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62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37800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286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Key audit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1993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893161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8536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4022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609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Cardinality test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99355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100523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92724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4758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5971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Join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671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307884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0085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5494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3332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Indicator review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31407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515246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07447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231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0694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Reconcile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2 · LO2 · A1/A6 · K1/K7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Join and concatenate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key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1965960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customer_id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left cardinality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2898648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many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right cardinality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31336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one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join type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764024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inner/left</a:t>
            </a:r>
          </a:p>
        </p:txBody>
      </p:sp>
    </p:spTree>
  </p:cSld>
  <p:transition spd="fast">
    <p:fade/>
  </p:transition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2 · LO2 · A1/A6 · K1/K7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Join and concatenate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64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join expansion = output rows / left rows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168 output / 160 orders = 1.05× warns of duplicate customer keys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match rate and expansion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2 · LO2 · A1/A6 · K1/K7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Join and concatenate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65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Revenue before and after the intended join reconciles within the documented scope.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2 · LO2 · A1/A6 · K1/K7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Join and concatenate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66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Many-to-many keys duplicate facts and inflate revenue.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Assert key uniqueness on the dimension table and inspect merge indicators.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Revenue before and after the intended join reconciles within the documented scope.</a:t>
            </a:r>
          </a:p>
        </p:txBody>
      </p:sp>
    </p:spTree>
  </p:cSld>
  <p:transition spd="fast">
    <p:fade/>
  </p:transition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2 · LO2 · A1/A6 · K1/K7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Missing-value treatment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67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37800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286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Diagnose mechanism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1993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893161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8536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4022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609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Choose statistic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99355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100523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92724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4758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5971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Fit on train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671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307884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0085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5494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3332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Transform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31407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515246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07447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231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0694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Flag imputed rows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2 · LO2 · A1/A6 · K1/K7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Missing-value treatment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68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MCAR/MAR/MNAR hypothesis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1965960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numeric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2898648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median/mean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category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31336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mode/Unknown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indicator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764024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was_missing</a:t>
            </a:r>
          </a:p>
        </p:txBody>
      </p:sp>
    </p:spTree>
  </p:cSld>
  <p:transition spd="fast">
    <p:fade/>
  </p:transition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2 · LO2 · A1/A6 · K1/K7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Missing-value treatment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69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median = middle ordered value; robust to extreme values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[20, 22, 24, 95] → median 23, mean 40.25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distribution shift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2 · LO2 · A1/A6 · K1/K7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Missing-value treatment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70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No unintended nulls remain and train/test preprocessing is identical.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2 · LO2 · A1/A6 · K1/K7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Missing-value treatment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71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Computing imputation values on the full dataset leaks test distribution.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Fit imputers only on training data inside a pipeline.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No unintended nulls remain and train/test preprocessing is identical.</a:t>
            </a:r>
          </a:p>
        </p:txBody>
      </p:sp>
    </p:spTree>
  </p:cSld>
  <p:transition spd="fast">
    <p:fade/>
  </p:transition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2 · LO2 · A1/A6 · K1/K7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Scaling, sampling, and aggregation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72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37800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286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Stratify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1993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893161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8536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4022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609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Fit scaler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99355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100523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92724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4758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5971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Transform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671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307884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0085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5494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3332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Aggregate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31407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515246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07447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231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0694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Check leakage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2 · LO2 · A1/A6 · K1/K7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Scaling, sampling, and aggregation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73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z = (x−μ)/σ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1965960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min-max = (x−min)/(max−min)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2898648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group key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31336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declared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measure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764024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count/sum/mean</a:t>
            </a:r>
          </a:p>
        </p:txBody>
      </p:sp>
    </p:spTree>
  </p:cSld>
  <p:transition spd="fast">
    <p:fade/>
  </p:transition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2 · LO2 · A1/A6 · K1/K7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Scaling, sampling, and aggregation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74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z = (850−500)/140 = 2.50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Revenue 850 is 2.5 standard deviations above training mean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standardised range and group totals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2 · LO2 · A1/A6 · K1/K7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Scaling, sampling, and aggregation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75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Training features centre near zero and group totals reconcile to source totals.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2 · LO2 · A1/A6 · K1/K7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Scaling, sampling, and aggregation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76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Scaling before splitting lets test statistics influence training features.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Split first; fit the scaler within the training pipeline.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Training features centre near zero and group totals reconcile to source totals.</a:t>
            </a:r>
          </a:p>
        </p:txBody>
      </p:sp>
    </p:spTree>
  </p:cSld>
  <p:transition spd="fast">
    <p:fade/>
  </p:transition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2 · PRACTICE 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Lab 02 · Clean, impute, and export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77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3337560" cy="40690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76272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CENTRAL APP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788920"/>
            <a:ext cx="283464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Data audit &amp; preparation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182880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9160" y="199339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INPUT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198424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Lab 02 mock CSV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60" y="306324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09160" y="322783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B253A"/>
                </a:solidFill>
                <a:latin typeface="Aptos"/>
              </a:rPr>
              <a:t>MECHANISM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21868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Data audit &amp; preparation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429768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446227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EVIDENCE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445312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metric + chart + interpretation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5650992"/>
            <a:ext cx="67665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62727B"/>
                </a:solidFill>
                <a:latin typeface="Aptos"/>
              </a:rPr>
              <a:t>The full click path, commands, checks, troubleshooting, and cleanup are in the Learner Guide and lab folder.</a:t>
            </a:r>
          </a:p>
        </p:txBody>
      </p:sp>
      <p:sp>
        <p:nvSpPr>
          <p:cNvPr id="31" name="Rounded Rectangle 30">
            <a:hlinkClick r:id="rId2"/>
          </p:cNvPr>
          <p:cNvSpPr/>
          <p:nvPr/>
        </p:nvSpPr>
        <p:spPr>
          <a:xfrm>
            <a:off x="1005840" y="4956048"/>
            <a:ext cx="2880360" cy="347472"/>
          </a:xfrm>
          <a:prstGeom prst="roundRect">
            <a:avLst>
              <a:gd name="adj" fmla="val 16000"/>
            </a:avLst>
          </a:prstGeom>
          <a:solidFill>
            <a:srgbClr val="0F766E"/>
          </a:solidFill>
          <a:ln w="1397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none"/>
          <a:lstStyle/>
          <a:p>
            <a:pPr algn="ctr"/>
            <a:r>
              <a:rPr sz="1150" b="1" u="none">
                <a:solidFill>
                  <a:srgbClr val="FFFFFF"/>
                </a:solidFill>
                <a:latin typeface="Aptos"/>
              </a:rPr>
              <a:t>OPEN CENTRAL LAB PORTAL</a:t>
            </a:r>
          </a:p>
        </p:txBody>
      </p:sp>
    </p:spTree>
  </p:cSld>
  <p:transition spd="fast">
    <p:fade/>
  </p:transition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VERIFY · FAILURE CLINIC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Lab 02 · acceptance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78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F766E"/>
                </a:solidFill>
                <a:latin typeface="Aptos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Record inputs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B253A"/>
                </a:solidFill>
                <a:latin typeface="Apto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Capture parameters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59E0B"/>
                </a:solidFill>
                <a:latin typeface="Apto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Export results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8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3B82F6"/>
                </a:solidFill>
                <a:latin typeface="Apto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Explain limits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4892040"/>
            <a:ext cx="10561320" cy="7772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560" y="5102352"/>
            <a:ext cx="101041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"/>
              </a:rPr>
              <a:t>PASS: Clean, impute, and export produces a reproducible artifact and a defensible interpretation—not only a screenshot.</a:t>
            </a:r>
          </a:p>
        </p:txBody>
      </p:sp>
    </p:spTree>
  </p:cSld>
  <p:transition spd="fast">
    <p:fade/>
  </p:transition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2 · PRACTICE 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Lab 03 · Filter, join, and aggregate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79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3337560" cy="40690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76272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CENTRAL APP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788920"/>
            <a:ext cx="283464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Join &amp; aggregate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182880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9160" y="199339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INPUT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198424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Lab 03 mock CSV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60" y="306324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09160" y="322783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B253A"/>
                </a:solidFill>
                <a:latin typeface="Aptos"/>
              </a:rPr>
              <a:t>MECHANISM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21868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Join &amp; aggregate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429768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446227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EVIDENCE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445312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metric + chart + interpretation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5650992"/>
            <a:ext cx="67665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62727B"/>
                </a:solidFill>
                <a:latin typeface="Aptos"/>
              </a:rPr>
              <a:t>The full click path, commands, checks, troubleshooting, and cleanup are in the Learner Guide and lab folder.</a:t>
            </a:r>
          </a:p>
        </p:txBody>
      </p:sp>
      <p:sp>
        <p:nvSpPr>
          <p:cNvPr id="31" name="Rounded Rectangle 30">
            <a:hlinkClick r:id="rId2"/>
          </p:cNvPr>
          <p:cNvSpPr/>
          <p:nvPr/>
        </p:nvSpPr>
        <p:spPr>
          <a:xfrm>
            <a:off x="1005840" y="4956048"/>
            <a:ext cx="2880360" cy="347472"/>
          </a:xfrm>
          <a:prstGeom prst="roundRect">
            <a:avLst>
              <a:gd name="adj" fmla="val 16000"/>
            </a:avLst>
          </a:prstGeom>
          <a:solidFill>
            <a:srgbClr val="0F766E"/>
          </a:solidFill>
          <a:ln w="1397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none"/>
          <a:lstStyle/>
          <a:p>
            <a:pPr algn="ctr"/>
            <a:r>
              <a:rPr sz="1150" b="1" u="none">
                <a:solidFill>
                  <a:srgbClr val="FFFFFF"/>
                </a:solidFill>
                <a:latin typeface="Aptos"/>
              </a:rPr>
              <a:t>OPEN CENTRAL LAB PORTAL</a:t>
            </a:r>
          </a:p>
        </p:txBody>
      </p:sp>
    </p:spTree>
  </p:cSld>
  <p:transition spd="fast">
    <p:fade/>
  </p:transition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VERIFY · FAILURE CLINIC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Lab 03 · acceptance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80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F766E"/>
                </a:solidFill>
                <a:latin typeface="Aptos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Record inputs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B253A"/>
                </a:solidFill>
                <a:latin typeface="Apto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Capture parameters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59E0B"/>
                </a:solidFill>
                <a:latin typeface="Apto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Export results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8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3B82F6"/>
                </a:solidFill>
                <a:latin typeface="Apto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Explain limits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4892040"/>
            <a:ext cx="10561320" cy="7772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560" y="5102352"/>
            <a:ext cx="101041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"/>
              </a:rPr>
              <a:t>PASS: Filter, join, and aggregate produces a reproducible artifact and a defensible interpretation—not only a screenshot.</a:t>
            </a:r>
          </a:p>
        </p:txBody>
      </p:sp>
    </p:spTree>
  </p:cSld>
  <p:transition spd="fast">
    <p:fade/>
  </p:transition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2 · PRACTICE 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Lab 04 · Scale features before modelling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81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3337560" cy="40690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76272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CENTRAL APP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788920"/>
            <a:ext cx="283464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Regression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182880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9160" y="199339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INPUT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198424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Lab 04 mock CSV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60" y="306324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09160" y="322783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B253A"/>
                </a:solidFill>
                <a:latin typeface="Aptos"/>
              </a:rPr>
              <a:t>MECHANISM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21868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Regression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429768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446227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EVIDENCE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445312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metric + chart + interpretation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5650992"/>
            <a:ext cx="67665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62727B"/>
                </a:solidFill>
                <a:latin typeface="Aptos"/>
              </a:rPr>
              <a:t>The full click path, commands, checks, troubleshooting, and cleanup are in the Learner Guide and lab folder.</a:t>
            </a:r>
          </a:p>
        </p:txBody>
      </p:sp>
      <p:sp>
        <p:nvSpPr>
          <p:cNvPr id="31" name="Rounded Rectangle 30">
            <a:hlinkClick r:id="rId2"/>
          </p:cNvPr>
          <p:cNvSpPr/>
          <p:nvPr/>
        </p:nvSpPr>
        <p:spPr>
          <a:xfrm>
            <a:off x="1005840" y="4956048"/>
            <a:ext cx="2880360" cy="347472"/>
          </a:xfrm>
          <a:prstGeom prst="roundRect">
            <a:avLst>
              <a:gd name="adj" fmla="val 16000"/>
            </a:avLst>
          </a:prstGeom>
          <a:solidFill>
            <a:srgbClr val="0F766E"/>
          </a:solidFill>
          <a:ln w="1397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none"/>
          <a:lstStyle/>
          <a:p>
            <a:pPr algn="ctr"/>
            <a:r>
              <a:rPr sz="1150" b="1" u="none">
                <a:solidFill>
                  <a:srgbClr val="FFFFFF"/>
                </a:solidFill>
                <a:latin typeface="Aptos"/>
              </a:rPr>
              <a:t>OPEN CENTRAL LAB PORTAL</a:t>
            </a:r>
          </a:p>
        </p:txBody>
      </p:sp>
    </p:spTree>
  </p:cSld>
  <p:transition spd="fast">
    <p:fade/>
  </p:transition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VERIFY · FAILURE CLINIC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Lab 04 · acceptance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82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F766E"/>
                </a:solidFill>
                <a:latin typeface="Aptos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Record inputs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B253A"/>
                </a:solidFill>
                <a:latin typeface="Apto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Capture parameters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59E0B"/>
                </a:solidFill>
                <a:latin typeface="Apto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Export results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8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3B82F6"/>
                </a:solidFill>
                <a:latin typeface="Apto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Explain limits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4892040"/>
            <a:ext cx="10561320" cy="7772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560" y="5102352"/>
            <a:ext cx="101041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"/>
              </a:rPr>
              <a:t>PASS: Scale features before modelling produces a reproducible artifact and a defensible interpretation—not only a screenshot.</a:t>
            </a:r>
          </a:p>
        </p:txBody>
      </p:sp>
    </p:spTree>
  </p:cSld>
  <p:transition spd="fast">
    <p:fade/>
  </p:transition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D1FAE5"/>
                </a:solidFill>
                <a:latin typeface="Aptos"/>
              </a:rPr>
              <a:t>TOPIC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69848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3900" b="1">
                <a:solidFill>
                  <a:srgbClr val="FFFFFF"/>
                </a:solidFill>
                <a:latin typeface="Aptos"/>
              </a:rPr>
              <a:t>Regression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788920"/>
            <a:ext cx="78638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0">
                <a:solidFill>
                  <a:srgbClr val="D1FAE5"/>
                </a:solidFill>
                <a:latin typeface="Aptos"/>
              </a:rPr>
              <a:t>LO3 · A2 · K2/K10 · Predicting continuous outcomes with controlled error</a:t>
            </a:r>
          </a:p>
        </p:txBody>
      </p:sp>
      <p:pic>
        <p:nvPicPr>
          <p:cNvPr id="6" name="Picture 5" descr="human-analytics-collabo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3749039"/>
            <a:ext cx="4279392" cy="2423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8" y="5349240"/>
            <a:ext cx="6629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Mechanism → contract → calculation → evidence →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83</a:t>
            </a:r>
          </a:p>
        </p:txBody>
      </p:sp>
    </p:spTree>
  </p:cSld>
  <p:transition spd="fast">
    <p:fade/>
  </p:transition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3 · LO3 · A2 · K2/K10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Linear model mechanism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84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37800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286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Feature matrix X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1993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893161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8536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4022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609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Coefficients β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99355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100523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92724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4758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5971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Intercept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671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307884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0085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5494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3332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Prediction ŷ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31407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515246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07447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231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0694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Residual 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3 · LO3 · A2 · K2/K10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Linear model mechanism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85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row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1965960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observation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column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2898648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feature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31336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marginal slope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764024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numeric outcome</a:t>
            </a:r>
          </a:p>
        </p:txBody>
      </p:sp>
    </p:spTree>
  </p:cSld>
  <p:transition spd="fast">
    <p:fade/>
  </p:transition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3 · LO3 · A2 · K2/K10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Linear model mechanism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86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ŷ = β₀ + β₁x₁ + … + βpxp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ŷ = 120,000 + 5,200×92 + 7,200×10 = $670,400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coefficient and residual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3 · LO3 · A2 · K2/K10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Linear model mechanism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87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Predictions, coefficients, and residuals can be reproduced from the frozen pipeline.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3 · LO3 · A2 · K2/K10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Linear model mechanism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88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Interpreting a coefficient causally when correlated variables or selection bias are present.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Use coefficients as conditional associations unless the design supports causality.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Predictions, coefficients, and residuals can be reproduced from the frozen pipeline.</a:t>
            </a:r>
          </a:p>
        </p:txBody>
      </p:sp>
    </p:spTree>
  </p:cSld>
  <p:transition spd="fast">
    <p:fade/>
  </p:transition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3 · LO3 · A2 · K2/K10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Residual diagnostics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89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37800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286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Predict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1993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893161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8536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4022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609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Compute residual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99355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100523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92724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4758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5971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Plot against fitted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671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307884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0085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5494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3332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Check pattern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31407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515246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07447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231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0694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Revise specification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3 · LO3 · A2 · K2/K10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Residual diagnostics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90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residual e=y−ŷ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1965960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zero-centred cloud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2898648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constant variance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3831336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independent errors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0" y="4764024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</p:spTree>
  </p:cSld>
  <p:transition spd="fast">
    <p:fade/>
  </p:transition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3 · LO3 · A2 · K2/K10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Residual diagnostics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91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SSE = Σ(yᵢ−ŷᵢ)²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errors [10, −5, 15] → SSE = 100+25+225 = 350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residual pattern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3 · LO3 · A2 · K2/K10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Residual diagnostics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92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Residuals show no systematic curve, drift, or group-specific bias.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3 · LO3 · A2 · K2/K10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Residual diagnostics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93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A funnel shape means error variance grows with the prediction.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Transform the target, add relevant features, or use robust intervals.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Residuals show no systematic curve, drift, or group-specific bias.</a:t>
            </a:r>
          </a:p>
        </p:txBody>
      </p:sp>
    </p:spTree>
  </p:cSld>
  <p:transition spd="fast">
    <p:fade/>
  </p:transition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3 · LO3 · A2 · K2/K10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MAE, MSE, RMSE, and R²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94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37800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286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Error vector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1993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893161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8536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4022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609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Absolute/squared loss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99355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100523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92724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4758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5971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Average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671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307884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0085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5494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3332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Scale recovery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31407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515246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07447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231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0694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Baseline comparison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3 · LO3 · A2 · K2/K10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MAE, MSE, RMSE, and R²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95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MAE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1965960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linear penalty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MSE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2898648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squared penalty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RMSE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31336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target units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R²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764024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versus mean baseline</a:t>
            </a:r>
          </a:p>
        </p:txBody>
      </p:sp>
    </p:spTree>
  </p:cSld>
  <p:transition spd="fast">
    <p:fade/>
  </p:transition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3 · LO3 · A2 · K2/K10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MAE, MSE, RMSE, and R²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96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R² = 1 − SSE/SST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SSE 1,800; SST 9,000 → R² = 0.80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hold-out MAE/RMSE/R²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3 · LO3 · A2 · K2/K10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MAE, MSE, RMSE, and R²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97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Metrics are computed on unseen rows and compared with a simple baseline.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3 · LO3 · A2 · K2/K10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MAE, MSE, RMSE, and R²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98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High R² can coexist with large business-critical errors in a subgroup.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Report absolute error and segment diagnostics alongside R².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Metrics are computed on unseen rows and compared with a simple baseline.</a:t>
            </a:r>
          </a:p>
        </p:txBody>
      </p:sp>
    </p:spTree>
  </p:cSld>
  <p:transition spd="fast">
    <p:fade/>
  </p:transition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3 · LO3 · A2 · K2/K10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Underfitting, overfitting, and validation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99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37800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286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Candidate complexity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1993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893161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8536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4022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609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Training error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99355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100523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92724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4758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5971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Validation error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671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307884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0085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5494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3332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Select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31407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515246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07447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231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0694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Final test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3 · LO3 · A2 · K2/K10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Underfitting, overfitting, and validation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underfit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1965960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both errors high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fit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2898648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low validation error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overfit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31336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widening gap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test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764024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used once</a:t>
            </a:r>
          </a:p>
        </p:txBody>
      </p:sp>
    </p:spTree>
  </p:cSld>
  <p:transition spd="fast">
    <p:fade/>
  </p:transition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3 · LO3 · A2 · K2/K10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Underfitting, overfitting, and validation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101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gap = train RMSE − test RMSE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train 12k vs test 47k → −35k gap indicates overfit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validation curve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3 · LO3 · A2 · K2/K10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Underfitting, overfitting, and validation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102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Learning curves show whether more data or a simpler model is likely to help.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3 · LO3 · A2 · K2/K10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Underfitting, overfitting, and validation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103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Selecting the deepest model because it minimises training error.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Choose complexity at the validation minimum and retain a final test set.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Learning curves show whether more data or a simpler model is likely to help.</a:t>
            </a:r>
          </a:p>
        </p:txBody>
      </p:sp>
    </p:spTree>
  </p:cSld>
  <p:transition spd="fast">
    <p:fade/>
  </p:transition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3 · LO3 · A2 · K2/K10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Ridge and Lasso regularisation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104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37800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286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Scale features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1993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893161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8536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4022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609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Add penalty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99355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100523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92724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4758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5971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Optimise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671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307884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0085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5494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3332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Shrink coefficients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31407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515246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07447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231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0694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Validate 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3 · LO3 · A2 · K2/K10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Ridge and Lasso regularisation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Ridge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1965960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L2 penalty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Lasso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2898648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L1 penalty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31336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penalty strength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intercept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764024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usually unpenalised</a:t>
            </a:r>
          </a:p>
        </p:txBody>
      </p:sp>
    </p:spTree>
  </p:cSld>
  <p:transition spd="fast">
    <p:fade/>
  </p:transition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3 · LO3 · A2 · K2/K10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Ridge and Lasso regularisation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106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Ridge: minimise SSE + αΣβ²; Lasso: SSE + αΣ|β|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α=1 shrinks unstable coefficients while retaining all Ridge features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cross-validated error versus 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3 · LO3 · A2 · K2/K10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Ridge and Lasso regularisation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107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Selected α improves or preserves validation error without collapsing useful signal.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3 · LO3 · A2 · K2/K10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Ridge and Lasso regularisation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108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Comparing penalty strengths on unscaled features makes the penalty uneven.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Standardise within the pipeline before Ridge or Lasso.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Selected α improves or preserves validation error without collapsing useful signal.</a:t>
            </a:r>
          </a:p>
        </p:txBody>
      </p:sp>
    </p:spTree>
  </p:cSld>
  <p:transition spd="fast">
    <p:fade/>
  </p:transition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3 · PRACTICE 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Lab 05 · Build a regression baseline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109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3337560" cy="40690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76272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CENTRAL APP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788920"/>
            <a:ext cx="283464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Regression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182880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9160" y="199339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INPUT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198424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Lab 05 mock CSV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60" y="306324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09160" y="322783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B253A"/>
                </a:solidFill>
                <a:latin typeface="Aptos"/>
              </a:rPr>
              <a:t>MECHANISM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21868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Regression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429768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446227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EVIDENCE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445312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metric + chart + interpretation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5650992"/>
            <a:ext cx="67665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62727B"/>
                </a:solidFill>
                <a:latin typeface="Aptos"/>
              </a:rPr>
              <a:t>The full click path, commands, checks, troubleshooting, and cleanup are in the Learner Guide and lab folder.</a:t>
            </a:r>
          </a:p>
        </p:txBody>
      </p:sp>
      <p:sp>
        <p:nvSpPr>
          <p:cNvPr id="31" name="Rounded Rectangle 30">
            <a:hlinkClick r:id="rId2"/>
          </p:cNvPr>
          <p:cNvSpPr/>
          <p:nvPr/>
        </p:nvSpPr>
        <p:spPr>
          <a:xfrm>
            <a:off x="1005840" y="4956048"/>
            <a:ext cx="2880360" cy="347472"/>
          </a:xfrm>
          <a:prstGeom prst="roundRect">
            <a:avLst>
              <a:gd name="adj" fmla="val 16000"/>
            </a:avLst>
          </a:prstGeom>
          <a:solidFill>
            <a:srgbClr val="0F766E"/>
          </a:solidFill>
          <a:ln w="1397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none"/>
          <a:lstStyle/>
          <a:p>
            <a:pPr algn="ctr"/>
            <a:r>
              <a:rPr sz="1150" b="1" u="none">
                <a:solidFill>
                  <a:srgbClr val="FFFFFF"/>
                </a:solidFill>
                <a:latin typeface="Aptos"/>
              </a:rPr>
              <a:t>OPEN CENTRAL LAB PORTAL</a:t>
            </a:r>
          </a:p>
        </p:txBody>
      </p:sp>
    </p:spTree>
  </p:cSld>
  <p:transition spd="fast">
    <p:fade/>
  </p:transition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VERIFY · FAILURE CLINIC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Lab 05 · acceptance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110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F766E"/>
                </a:solidFill>
                <a:latin typeface="Aptos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Record inputs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B253A"/>
                </a:solidFill>
                <a:latin typeface="Apto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Capture parameters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59E0B"/>
                </a:solidFill>
                <a:latin typeface="Apto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Export results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8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3B82F6"/>
                </a:solidFill>
                <a:latin typeface="Apto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Explain limits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4892040"/>
            <a:ext cx="10561320" cy="7772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560" y="5102352"/>
            <a:ext cx="101041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"/>
              </a:rPr>
              <a:t>PASS: Build a regression baseline produces a reproducible artifact and a defensible interpretation—not only a screenshot.</a:t>
            </a:r>
          </a:p>
        </p:txBody>
      </p:sp>
    </p:spTree>
  </p:cSld>
  <p:transition spd="fast">
    <p:fade/>
  </p:transition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3 · PRACTICE 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Lab 06 · Control overfitting with Ridge and Lasso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111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3337560" cy="40690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76272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CENTRAL APP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788920"/>
            <a:ext cx="283464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Regression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182880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9160" y="199339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INPUT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198424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Lab 06 mock CSV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60" y="306324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09160" y="322783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B253A"/>
                </a:solidFill>
                <a:latin typeface="Aptos"/>
              </a:rPr>
              <a:t>MECHANISM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21868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Regression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429768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446227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EVIDENCE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445312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metric + chart + interpretation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5650992"/>
            <a:ext cx="67665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62727B"/>
                </a:solidFill>
                <a:latin typeface="Aptos"/>
              </a:rPr>
              <a:t>The full click path, commands, checks, troubleshooting, and cleanup are in the Learner Guide and lab folder.</a:t>
            </a:r>
          </a:p>
        </p:txBody>
      </p:sp>
      <p:sp>
        <p:nvSpPr>
          <p:cNvPr id="31" name="Rounded Rectangle 30">
            <a:hlinkClick r:id="rId2"/>
          </p:cNvPr>
          <p:cNvSpPr/>
          <p:nvPr/>
        </p:nvSpPr>
        <p:spPr>
          <a:xfrm>
            <a:off x="1005840" y="4956048"/>
            <a:ext cx="2880360" cy="347472"/>
          </a:xfrm>
          <a:prstGeom prst="roundRect">
            <a:avLst>
              <a:gd name="adj" fmla="val 16000"/>
            </a:avLst>
          </a:prstGeom>
          <a:solidFill>
            <a:srgbClr val="0F766E"/>
          </a:solidFill>
          <a:ln w="1397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none"/>
          <a:lstStyle/>
          <a:p>
            <a:pPr algn="ctr"/>
            <a:r>
              <a:rPr sz="1150" b="1" u="none">
                <a:solidFill>
                  <a:srgbClr val="FFFFFF"/>
                </a:solidFill>
                <a:latin typeface="Aptos"/>
              </a:rPr>
              <a:t>OPEN CENTRAL LAB PORTAL</a:t>
            </a:r>
          </a:p>
        </p:txBody>
      </p:sp>
    </p:spTree>
  </p:cSld>
  <p:transition spd="fast">
    <p:fade/>
  </p:transition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VERIFY · FAILURE CLINIC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Lab 06 · acceptance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112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F766E"/>
                </a:solidFill>
                <a:latin typeface="Aptos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Record inputs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B253A"/>
                </a:solidFill>
                <a:latin typeface="Apto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Capture parameters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59E0B"/>
                </a:solidFill>
                <a:latin typeface="Apto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Export results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8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3B82F6"/>
                </a:solidFill>
                <a:latin typeface="Apto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Explain limits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4892040"/>
            <a:ext cx="10561320" cy="7772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560" y="5102352"/>
            <a:ext cx="101041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"/>
              </a:rPr>
              <a:t>PASS: Control overfitting with Ridge and Lasso produces a reproducible artifact and a defensible interpretation—not only a screenshot.</a:t>
            </a:r>
          </a:p>
        </p:txBody>
      </p:sp>
    </p:spTree>
  </p:cSld>
  <p:transition spd="fast">
    <p:fade/>
  </p:transition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D1FAE5"/>
                </a:solidFill>
                <a:latin typeface="Aptos"/>
              </a:rPr>
              <a:t>TOPIC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69848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3900" b="1">
                <a:solidFill>
                  <a:srgbClr val="FFFFFF"/>
                </a:solidFill>
                <a:latin typeface="Aptos"/>
              </a:rPr>
              <a:t>Classification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788920"/>
            <a:ext cx="78638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0">
                <a:solidFill>
                  <a:srgbClr val="D1FAE5"/>
                </a:solidFill>
                <a:latin typeface="Aptos"/>
              </a:rPr>
              <a:t>LO4 · A7 · K6 · Separating classes and choosing an operating threshold</a:t>
            </a:r>
          </a:p>
        </p:txBody>
      </p:sp>
      <p:pic>
        <p:nvPicPr>
          <p:cNvPr id="6" name="Picture 5" descr="data-pipeline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3749039"/>
            <a:ext cx="4279392" cy="2423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8" y="5349240"/>
            <a:ext cx="6629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Mechanism → contract → calculation → evidence →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113</a:t>
            </a:r>
          </a:p>
        </p:txBody>
      </p:sp>
    </p:spTree>
  </p:cSld>
  <p:transition spd="fast">
    <p:fade/>
  </p:transition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4 · LO4 · A7 · K6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Decision tree and ensemble path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114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37800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286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Root split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1993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893161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8536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4022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609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Impurity reduction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99355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100523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92724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4758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5971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Child nodes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671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307884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0085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5494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3332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Leaf probability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31407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515246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07447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231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0694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Threshold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4 · LO4 · A7 · K6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Decision tree and ensemble path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115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feature threshold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1965960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Gini/entropy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2898648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max_depth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3831336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min_samples_leaf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0" y="4764024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</p:spTree>
  </p:cSld>
  <p:transition spd="fast">
    <p:fade/>
  </p:transition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4 · LO4 · A7 · K6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Decision tree and ensemble path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116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Gini = 1 − Σpₖ²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p(churn)=0.7 → Gini=1−0.7²−0.3²=0.42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depth, leaf support, validation score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4 · LO4 · A7 · K6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Decision tree and ensemble path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117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Leaf counts, feature importance, and hold-out scores remain plausible.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4 · LO4 · A7 · K6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Decision tree and ensemble path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118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Deep leaves memorise rare combinations and become unstable.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Limit depth/leaf size and compare with bagged Random Forest estimates.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Leaf counts, feature importance, and hold-out scores remain plausible.</a:t>
            </a:r>
          </a:p>
        </p:txBody>
      </p:sp>
    </p:spTree>
  </p:cSld>
  <p:transition spd="fast">
    <p:fade/>
  </p:transition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4 · LO4 · A7 · K6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Logistic, KNN, SVM, and Naive Bayes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119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65392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0878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Transform features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243834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445002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13123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67987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00450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Fit decision surface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03036" y="3611880"/>
            <a:ext cx="201167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204204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172325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718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9652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Score class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76223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963406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931527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8639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18854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Apply threshold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4 · LO4 · A7 · K6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Logistic, KNN, SVM, and Naive Bayes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120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logistic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1965960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log-odds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KNN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2898648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neighbourhood vote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SVM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31336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margin/kernel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NB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764024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conditional likelihood</a:t>
            </a:r>
          </a:p>
        </p:txBody>
      </p:sp>
    </p:spTree>
  </p:cSld>
  <p:transition spd="fast">
    <p:fade/>
  </p:transition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4 · LO4 · A7 · K6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Logistic, KNN, SVM, and Naive Bayes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121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logit(p)=β₀+βx; p = 1/(1+exp(-z))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z=1.386 → p≈0.80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probability calibration and discrimination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4 · LO4 · A7 · K6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Logistic, KNN, SVM, and Naive Bayes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122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Each classifier is evaluated on the same rows, labels, and metrics.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4 · LO4 · A7 · K6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Logistic, KNN, SVM, and Naive Bayes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123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KNN and SVM are distorted when features have incompatible scales.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Use a shared preprocessing pipeline and compare models under identical folds.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Each classifier is evaluated on the same rows, labels, and metrics.</a:t>
            </a:r>
          </a:p>
        </p:txBody>
      </p:sp>
    </p:spTree>
  </p:cSld>
  <p:transition spd="fast">
    <p:fade/>
  </p:transition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4 · LO4 · A7 · K6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Stratified K-fold cross-validation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124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37800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286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Shuffle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1993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893161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8536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4022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609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Preserve class ratio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99355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100523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92724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4758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5971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Fit K−1 folds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671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307884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0085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5494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3332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Score held-out fold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31407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515246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07447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231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0694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Aggregate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4 · LO4 · A7 · K6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Stratified K-fold cross-validation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125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1965960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number of folds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stratify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2898648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class balance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seed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31336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reproducibility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mean ± standard deviation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0" y="4764024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</p:spTree>
  </p:cSld>
  <p:transition spd="fast">
    <p:fade/>
  </p:transition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4 · LO4 · A7 · K6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Stratified K-fold cross-validation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126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CV mean = Σ scoreᵢ / 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[.84,.87,.85,.86,.88] → mean .86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mean and fold variability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4 · LO4 · A7 · K6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Stratified K-fold cross-validation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127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Every row is held out once and class proportions are stable across folds.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4 · LO4 · A7 · K6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Stratified K-fold cross-validation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128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Preprocessing outside the cross-validation loop leaks fold information.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Put imputation, encoding, scaling, and model in one pipeline.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Every row is held out once and class proportions are stable across folds.</a:t>
            </a:r>
          </a:p>
        </p:txBody>
      </p:sp>
    </p:spTree>
  </p:cSld>
  <p:transition spd="fast">
    <p:fade/>
  </p:transition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4 · LO4 · A7 · K6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Confusion matrix and class metrics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129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65392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0878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Compare labels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243834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445002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13123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67987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00450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Count TP/TN/FP/FN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03036" y="3611880"/>
            <a:ext cx="201167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204204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172325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718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9652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Compute metrics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76223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963406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931527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8639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18854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Attach costs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4 · LO4 · A7 · K6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Confusion matrix and class metrics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130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precision=TP/(TP+FP)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1965960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recall=TP/(TP+FN)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2898648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specificity=TN/(TN+FP)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3831336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F1 harmonic mean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0" y="4764024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</p:spTree>
  </p:cSld>
  <p:transition spd="fast">
    <p:fade/>
  </p:transition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4 · LO4 · A7 · K6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Confusion matrix and class metrics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131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F1 = 2PR/(P+R)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P=.75, R=.60 → F1=.667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precision, recall, F1, specificity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4 · LO4 · A7 · K6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Confusion matrix and class metrics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132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1755648"/>
            <a:ext cx="3931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PREDICTED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3218688"/>
            <a:ext cx="11887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ACTUAL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2103120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62727B"/>
                </a:solidFill>
                <a:latin typeface="Aptos"/>
              </a:rPr>
              <a:t>POSITIVE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2103120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62727B"/>
                </a:solidFill>
                <a:latin typeface="Aptos"/>
              </a:rPr>
              <a:t>NEGATIVE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297180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1100" b="1">
                <a:solidFill>
                  <a:srgbClr val="62727B"/>
                </a:solidFill>
                <a:latin typeface="Aptos"/>
              </a:rPr>
              <a:t>POSITIVE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438912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1100" b="1">
                <a:solidFill>
                  <a:srgbClr val="62727B"/>
                </a:solidFill>
                <a:latin typeface="Aptos"/>
              </a:rPr>
              <a:t>NEGATIVE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0" y="2514600"/>
            <a:ext cx="1828800" cy="114300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80360" y="2679192"/>
            <a:ext cx="155448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80360" y="2990088"/>
            <a:ext cx="15544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0B253A"/>
                </a:solidFill>
                <a:latin typeface="Aptos"/>
              </a:rPr>
              <a:t>45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800600" y="2514600"/>
            <a:ext cx="1828800" cy="114300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37760" y="2679192"/>
            <a:ext cx="155448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91C1C"/>
                </a:solidFill>
                <a:latin typeface="Aptos"/>
              </a:rPr>
              <a:t>FN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37760" y="2990088"/>
            <a:ext cx="15544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0B253A"/>
                </a:solidFill>
                <a:latin typeface="Aptos"/>
              </a:rPr>
              <a:t>30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743200" y="3931920"/>
            <a:ext cx="1828800" cy="114300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80360" y="4096511"/>
            <a:ext cx="155448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91C1C"/>
                </a:solidFill>
                <a:latin typeface="Aptos"/>
              </a:rPr>
              <a:t>FP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80360" y="4407408"/>
            <a:ext cx="15544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0B253A"/>
                </a:solidFill>
                <a:latin typeface="Aptos"/>
              </a:rPr>
              <a:t>15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800600" y="3931920"/>
            <a:ext cx="1828800" cy="114300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37760" y="4096511"/>
            <a:ext cx="155448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37760" y="4407408"/>
            <a:ext cx="15544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0B253A"/>
                </a:solidFill>
                <a:latin typeface="Aptos"/>
              </a:rPr>
              <a:t>210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452360" y="1965960"/>
            <a:ext cx="3886200" cy="36118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0" y="2304288"/>
            <a:ext cx="3246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METRIC READOUT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18120" y="2852928"/>
            <a:ext cx="3154680" cy="1920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ptos"/>
              </a:rPr>
              <a:t>Precision 75%</a:t>
            </a:r>
          </a:p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ptos"/>
              </a:rPr>
              <a:t>Recall 60%</a:t>
            </a:r>
          </a:p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ptos"/>
              </a:rPr>
              <a:t>F1 66.7%</a:t>
            </a:r>
          </a:p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ptos"/>
              </a:rPr>
              <a:t>Cases 300</a:t>
            </a:r>
          </a:p>
        </p:txBody>
      </p:sp>
    </p:spTree>
  </p:cSld>
  <p:transition spd="fast">
    <p:fade/>
  </p:transition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4 · LO4 · A7 · K6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Confusion matrix and class metrics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133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Accuracy hides failure when the positive class is rare.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Report the full matrix and select metrics based on error cost.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Matrix cell counts sum to the evaluated sample size.</a:t>
            </a:r>
          </a:p>
        </p:txBody>
      </p:sp>
    </p:spTree>
  </p:cSld>
  <p:transition spd="fast">
    <p:fade/>
  </p:transition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4 · LO4 · A7 · K6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ROC, AUC, and threshold policy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134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37800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286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Probability score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1993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893161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8536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4022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609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Candidate threshold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99355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100523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92724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4758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5971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TPR/FPR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671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307884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0085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5494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3332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ROC curve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31407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515246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07447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231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0694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Operating point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4 · LO4 · A7 · K6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ROC, AUC, and threshold policy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135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TPR=recall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1965960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FPR=FP/(FP+TN)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2898648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AUC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31336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ranking probability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threshold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764024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policy choice</a:t>
            </a:r>
          </a:p>
        </p:txBody>
      </p:sp>
    </p:spTree>
  </p:cSld>
  <p:transition spd="fast">
    <p:fade/>
  </p:transition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4 · LO4 · A7 · K6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ROC, AUC, and threshold policy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136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expected cost = FP×C_FP + FN×C_FN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15 FP×$20 + 30 FN×$120 = $3,900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AUC plus operating cost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4 · LO4 · A7 · K6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ROC, AUC, and threshold policy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137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212848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OPERATING POINT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816352"/>
            <a:ext cx="2743200" cy="22402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AUC summarises ranking.</a:t>
            </a:r>
          </a:p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/>
            </a:r>
          </a:p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The threshold still controls TPR, FPR, workload, and cost.</a:t>
            </a:r>
          </a:p>
        </p:txBody>
      </p:sp>
    </p:spTree>
  </p:cSld>
  <p:transition spd="fast">
    <p:fade/>
  </p:transition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4 · LO4 · A7 · K6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ROC, AUC, and threshold policy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138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Choosing 0.5 by convention when false negatives are much costlier.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Select a threshold from business costs and capacity constraints.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The chosen point states threshold, TPR, FPR, volume, and expected cost.</a:t>
            </a:r>
          </a:p>
        </p:txBody>
      </p:sp>
    </p:spTree>
  </p:cSld>
  <p:transition spd="fast">
    <p:fade/>
  </p:transition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4 · PRACTICE 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Lab 07 · Compare classification algorithms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139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3337560" cy="40690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76272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CENTRAL APP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788920"/>
            <a:ext cx="283464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Classification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182880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9160" y="199339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INPUT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198424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Lab 07 mock CSV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60" y="306324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09160" y="322783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B253A"/>
                </a:solidFill>
                <a:latin typeface="Aptos"/>
              </a:rPr>
              <a:t>MECHANISM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21868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Classification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429768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446227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EVIDENCE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445312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metric + chart + interpretation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5650992"/>
            <a:ext cx="67665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62727B"/>
                </a:solidFill>
                <a:latin typeface="Aptos"/>
              </a:rPr>
              <a:t>The full click path, commands, checks, troubleshooting, and cleanup are in the Learner Guide and lab folder.</a:t>
            </a:r>
          </a:p>
        </p:txBody>
      </p:sp>
      <p:sp>
        <p:nvSpPr>
          <p:cNvPr id="31" name="Rounded Rectangle 30">
            <a:hlinkClick r:id="rId2"/>
          </p:cNvPr>
          <p:cNvSpPr/>
          <p:nvPr/>
        </p:nvSpPr>
        <p:spPr>
          <a:xfrm>
            <a:off x="1005840" y="4956048"/>
            <a:ext cx="2880360" cy="347472"/>
          </a:xfrm>
          <a:prstGeom prst="roundRect">
            <a:avLst>
              <a:gd name="adj" fmla="val 16000"/>
            </a:avLst>
          </a:prstGeom>
          <a:solidFill>
            <a:srgbClr val="0F766E"/>
          </a:solidFill>
          <a:ln w="1397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none"/>
          <a:lstStyle/>
          <a:p>
            <a:pPr algn="ctr"/>
            <a:r>
              <a:rPr sz="1150" b="1" u="none">
                <a:solidFill>
                  <a:srgbClr val="FFFFFF"/>
                </a:solidFill>
                <a:latin typeface="Aptos"/>
              </a:rPr>
              <a:t>OPEN CENTRAL LAB PORTAL</a:t>
            </a:r>
          </a:p>
        </p:txBody>
      </p:sp>
    </p:spTree>
  </p:cSld>
  <p:transition spd="fast">
    <p:fade/>
  </p:transition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VERIFY · FAILURE CLINIC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Lab 07 · acceptance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140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F766E"/>
                </a:solidFill>
                <a:latin typeface="Aptos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Record inputs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B253A"/>
                </a:solidFill>
                <a:latin typeface="Apto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Capture parameters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59E0B"/>
                </a:solidFill>
                <a:latin typeface="Apto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Export results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8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3B82F6"/>
                </a:solidFill>
                <a:latin typeface="Apto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Explain limits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4892040"/>
            <a:ext cx="10561320" cy="7772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560" y="5102352"/>
            <a:ext cx="101041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"/>
              </a:rPr>
              <a:t>PASS: Compare classification algorithms produces a reproducible artifact and a defensible interpretation—not only a screenshot.</a:t>
            </a:r>
          </a:p>
        </p:txBody>
      </p:sp>
    </p:spTree>
  </p:cSld>
  <p:transition spd="fast">
    <p:fade/>
  </p:transition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4 · PRACTICE 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Lab 08 · Use stratified K-fold validation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141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3337560" cy="40690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76272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CENTRAL APP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788920"/>
            <a:ext cx="283464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Cross-validation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182880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9160" y="199339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INPUT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198424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Lab 08 mock CSV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60" y="306324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09160" y="322783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B253A"/>
                </a:solidFill>
                <a:latin typeface="Aptos"/>
              </a:rPr>
              <a:t>MECHANISM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21868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Cross-validation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429768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446227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EVIDENCE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445312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metric + chart + interpretation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5650992"/>
            <a:ext cx="67665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62727B"/>
                </a:solidFill>
                <a:latin typeface="Aptos"/>
              </a:rPr>
              <a:t>The full click path, commands, checks, troubleshooting, and cleanup are in the Learner Guide and lab folder.</a:t>
            </a:r>
          </a:p>
        </p:txBody>
      </p:sp>
      <p:sp>
        <p:nvSpPr>
          <p:cNvPr id="31" name="Rounded Rectangle 30">
            <a:hlinkClick r:id="rId2"/>
          </p:cNvPr>
          <p:cNvSpPr/>
          <p:nvPr/>
        </p:nvSpPr>
        <p:spPr>
          <a:xfrm>
            <a:off x="1005840" y="4956048"/>
            <a:ext cx="2880360" cy="347472"/>
          </a:xfrm>
          <a:prstGeom prst="roundRect">
            <a:avLst>
              <a:gd name="adj" fmla="val 16000"/>
            </a:avLst>
          </a:prstGeom>
          <a:solidFill>
            <a:srgbClr val="0F766E"/>
          </a:solidFill>
          <a:ln w="1397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none"/>
          <a:lstStyle/>
          <a:p>
            <a:pPr algn="ctr"/>
            <a:r>
              <a:rPr sz="1150" b="1" u="none">
                <a:solidFill>
                  <a:srgbClr val="FFFFFF"/>
                </a:solidFill>
                <a:latin typeface="Aptos"/>
              </a:rPr>
              <a:t>OPEN CENTRAL LAB PORTAL</a:t>
            </a:r>
          </a:p>
        </p:txBody>
      </p:sp>
    </p:spTree>
  </p:cSld>
  <p:transition spd="fast">
    <p:fade/>
  </p:transition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VERIFY · FAILURE CLINIC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Lab 08 · acceptance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142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F766E"/>
                </a:solidFill>
                <a:latin typeface="Aptos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Record inputs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B253A"/>
                </a:solidFill>
                <a:latin typeface="Apto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Capture parameters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59E0B"/>
                </a:solidFill>
                <a:latin typeface="Apto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Export results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8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3B82F6"/>
                </a:solidFill>
                <a:latin typeface="Apto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Explain limits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4892040"/>
            <a:ext cx="10561320" cy="7772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560" y="5102352"/>
            <a:ext cx="101041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"/>
              </a:rPr>
              <a:t>PASS: Use stratified K-fold validation produces a reproducible artifact and a defensible interpretation—not only a screenshot.</a:t>
            </a:r>
          </a:p>
        </p:txBody>
      </p:sp>
    </p:spTree>
  </p:cSld>
  <p:transition spd="fast">
    <p:fade/>
  </p:transition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4 · PRACTICE 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Lab 09 · Interpret confusion metrics and error costs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143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3337560" cy="40690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76272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CENTRAL APP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788920"/>
            <a:ext cx="283464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Classification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182880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9160" y="199339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INPUT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198424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Lab 09 mock CSV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60" y="306324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09160" y="322783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B253A"/>
                </a:solidFill>
                <a:latin typeface="Aptos"/>
              </a:rPr>
              <a:t>MECHANISM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21868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Classification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429768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446227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EVIDENCE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445312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metric + chart + interpretation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5650992"/>
            <a:ext cx="67665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62727B"/>
                </a:solidFill>
                <a:latin typeface="Aptos"/>
              </a:rPr>
              <a:t>The full click path, commands, checks, troubleshooting, and cleanup are in the Learner Guide and lab folder.</a:t>
            </a:r>
          </a:p>
        </p:txBody>
      </p:sp>
      <p:sp>
        <p:nvSpPr>
          <p:cNvPr id="31" name="Rounded Rectangle 30">
            <a:hlinkClick r:id="rId2"/>
          </p:cNvPr>
          <p:cNvSpPr/>
          <p:nvPr/>
        </p:nvSpPr>
        <p:spPr>
          <a:xfrm>
            <a:off x="1005840" y="4956048"/>
            <a:ext cx="2880360" cy="347472"/>
          </a:xfrm>
          <a:prstGeom prst="roundRect">
            <a:avLst>
              <a:gd name="adj" fmla="val 16000"/>
            </a:avLst>
          </a:prstGeom>
          <a:solidFill>
            <a:srgbClr val="0F766E"/>
          </a:solidFill>
          <a:ln w="1397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none"/>
          <a:lstStyle/>
          <a:p>
            <a:pPr algn="ctr"/>
            <a:r>
              <a:rPr sz="1150" b="1" u="none">
                <a:solidFill>
                  <a:srgbClr val="FFFFFF"/>
                </a:solidFill>
                <a:latin typeface="Aptos"/>
              </a:rPr>
              <a:t>OPEN CENTRAL LAB PORTAL</a:t>
            </a:r>
          </a:p>
        </p:txBody>
      </p:sp>
    </p:spTree>
  </p:cSld>
  <p:transition spd="fast">
    <p:fade/>
  </p:transition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VERIFY · FAILURE CLINIC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Lab 09 · acceptance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144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F766E"/>
                </a:solidFill>
                <a:latin typeface="Aptos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Record inputs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B253A"/>
                </a:solidFill>
                <a:latin typeface="Apto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Capture parameters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59E0B"/>
                </a:solidFill>
                <a:latin typeface="Apto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Export results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8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3B82F6"/>
                </a:solidFill>
                <a:latin typeface="Apto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Explain limits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4892040"/>
            <a:ext cx="10561320" cy="7772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560" y="5102352"/>
            <a:ext cx="101041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"/>
              </a:rPr>
              <a:t>PASS: Interpret confusion metrics and error costs produces a reproducible artifact and a defensible interpretation—not only a screenshot.</a:t>
            </a:r>
          </a:p>
        </p:txBody>
      </p:sp>
    </p:spTree>
  </p:cSld>
  <p:transition spd="fast">
    <p:fade/>
  </p:transition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D1FAE5"/>
                </a:solidFill>
                <a:latin typeface="Aptos"/>
              </a:rPr>
              <a:t>TOPIC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69848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3900" b="1">
                <a:solidFill>
                  <a:srgbClr val="FFFFFF"/>
                </a:solidFill>
                <a:latin typeface="Aptos"/>
              </a:rPr>
              <a:t>Clustering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788920"/>
            <a:ext cx="78638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0">
                <a:solidFill>
                  <a:srgbClr val="D1FAE5"/>
                </a:solidFill>
                <a:latin typeface="Aptos"/>
              </a:rPr>
              <a:t>LO5 · A5/A9 · K3/K5 · Discovering structure without labels</a:t>
            </a:r>
          </a:p>
        </p:txBody>
      </p:sp>
      <p:pic>
        <p:nvPicPr>
          <p:cNvPr id="6" name="Picture 5" descr="human-analytics-collabo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3749039"/>
            <a:ext cx="4279392" cy="2423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8" y="5349240"/>
            <a:ext cx="6629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Mechanism → contract → calculation → evidence →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145</a:t>
            </a:r>
          </a:p>
        </p:txBody>
      </p:sp>
    </p:spTree>
  </p:cSld>
  <p:transition spd="fast">
    <p:fade/>
  </p:transition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5 · LO5 · A5/A9 · K3/K5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Distance and scaling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146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65392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0878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Select features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243834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445002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13123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67987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00450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Impute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03036" y="3611880"/>
            <a:ext cx="201167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204204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172325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718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9652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Scale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76223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963406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931527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8639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18854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Compute pairwise distance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5 · LO5 · A5/A9 · K3/K5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Distance and scaling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147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Euclidean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1965960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continuous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Manhattan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2898648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absolute steps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cosine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31336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direction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categorical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764024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requires encoding</a:t>
            </a:r>
          </a:p>
        </p:txBody>
      </p:sp>
    </p:spTree>
  </p:cSld>
  <p:transition spd="fast">
    <p:fade/>
  </p:transition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5 · LO5 · A5/A9 · K3/K5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Distance and scaling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148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d(x,y)=√Σ(xᵢ−yᵢ)²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(2,3) to (5,7) → √(9+16)=5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distance distribution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5 · LO5 · A5/A9 · K3/K5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Distance and scaling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149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Nearest neighbours are sensible under domain review and robust to scaling choices.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5 · LO5 · A5/A9 · K3/K5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Distance and scaling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150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A high-magnitude spend field dominates an unscaled visit-frequency field.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Standardise numeric variables and justify the distance metric.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Nearest neighbours are sensible under domain review and robust to scaling choices.</a:t>
            </a:r>
          </a:p>
        </p:txBody>
      </p:sp>
    </p:spTree>
  </p:cSld>
  <p:transition spd="fast">
    <p:fade/>
  </p:transition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5 · LO5 · A5/A9 · K3/K5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K-means assignment/update loop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151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37800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286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Initial centroids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1993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893161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8536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4022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609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Assign nearest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99355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100523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92724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4758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5971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Recompute means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671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307884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0085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5494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3332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Repeat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31407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515246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07447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231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0694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Converge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5 · LO5 · A5/A9 · K3/K5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K-means assignment/update loop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152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1965960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requested clusters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centroid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2898648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feature mean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inertia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31336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within-cluster SSE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n_init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764024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multiple starts</a:t>
            </a:r>
          </a:p>
        </p:txBody>
      </p:sp>
    </p:spTree>
  </p:cSld>
  <p:transition spd="fast">
    <p:fade/>
  </p:transition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5 · LO5 · A5/A9 · K3/K5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K-means assignment/update loop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153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inertia = Σ||xᵢ−μcluster(i)||²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three compact groups reduce inertia from 940 to 218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inertia and stability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5 · LO5 · A5/A9 · K3/K5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K-means assignment/update loop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154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Centroids, inertia, and labels reproduce under the recorded seed.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5 · LO5 · A5/A9 · K3/K5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K-means assignment/update loop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155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One random start reaches a poor local minimum.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Use multiple initialisations and compare label stability.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Centroids, inertia, and labels reproduce under the recorded seed.</a:t>
            </a:r>
          </a:p>
        </p:txBody>
      </p:sp>
    </p:spTree>
  </p:cSld>
  <p:transition spd="fast">
    <p:fade/>
  </p:transition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5 · LO5 · A5/A9 · K3/K5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Silhouette analysis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156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65392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0878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Within distance 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243834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445002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13123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67987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00450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Nearest-cluster distance b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03036" y="3611880"/>
            <a:ext cx="201167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204204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172325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718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9652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Score each point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76223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963406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931527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8639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18854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Average by 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5 · LO5 · A5/A9 · K3/K5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Silhouette analysis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157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range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1965960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−1 to 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near 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2898648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separated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near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31336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boundary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negative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764024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likely misassigned</a:t>
            </a:r>
          </a:p>
        </p:txBody>
      </p:sp>
    </p:spTree>
  </p:cSld>
  <p:transition spd="fast">
    <p:fade/>
  </p:transition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5 · LO5 · A5/A9 · K3/K5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Silhouette analysis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158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s=(b−a)/max(a,b)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a=2, b=5 → s=0.60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mean and per-cluster silhouette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5 · LO5 · A5/A9 · K3/K5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Silhouette analysis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159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The chosen k has acceptable separation and interpretable cluster sizes.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5 · LO5 · A5/A9 · K3/K5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Silhouette analysis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160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Selecting the highest average while ignoring a tiny or unstable cluster.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Review the distribution, cluster sizes, and business usefulness.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The chosen k has acceptable separation and interpretable cluster sizes.</a:t>
            </a:r>
          </a:p>
        </p:txBody>
      </p:sp>
    </p:spTree>
  </p:cSld>
  <p:transition spd="fast">
    <p:fade/>
  </p:transition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5 · LO5 · A5/A9 · K3/K5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Hierarchical clustering and dendrogram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161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37800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286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Singleton clusters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1993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893161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8536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4022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609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Pairwise distances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99355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100523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92724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4758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5971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Ward merge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671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307884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0085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5494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3332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Update tree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31407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515246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07447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231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0694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Cut height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5 · LO5 · A5/A9 · K3/K5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Hierarchical clustering and dendrogram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162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linkage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1965960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Ward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merge distance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2898648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dendrogram height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3831336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cut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764024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cluster count</a:t>
            </a:r>
          </a:p>
        </p:txBody>
      </p:sp>
    </p:spTree>
  </p:cSld>
  <p:transition spd="fast">
    <p:fade/>
  </p:transition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5 · LO5 · A5/A9 · K3/K5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Hierarchical clustering and dendrogram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Ward merges the pair with the smallest increase in within-cluster variance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large jump from 6.2 to 14.8 suggests a cut before the jump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merge-distance jump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5 · LO5 · A5/A9 · K3/K5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Hierarchical clustering and dendrogram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164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The cut produces the stated cluster count and matching scatter colours.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5 · LO5 · A5/A9 · K3/K5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Hierarchical clustering and dendrogram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165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Treating horizontal spacing in a dendrogram as a numeric distance.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Read merge distance from the vertical axis and document the cut height.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The cut produces the stated cluster count and matching scatter colours.</a:t>
            </a:r>
          </a:p>
        </p:txBody>
      </p:sp>
    </p:spTree>
  </p:cSld>
  <p:transition spd="fast">
    <p:fade/>
  </p:transition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5 · LO5 · A5/A9 · K3/K5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Cluster interpretation and limitations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166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37800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286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Profile clusters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1993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893161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8536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4022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609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Compare distributions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99355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100523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92724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4758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5971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Name cautiously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671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307884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0085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5494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3332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Test stability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31407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515246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07447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231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0694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Decide action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5 · LO5 · A5/A9 · K3/K5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Cluster interpretation and limitations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167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size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1965960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n and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centroid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2898648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scaled profile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stability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31336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repeated samples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action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764024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testable intervention</a:t>
            </a:r>
          </a:p>
        </p:txBody>
      </p:sp>
    </p:spTree>
  </p:cSld>
  <p:transition spd="fast">
    <p:fade/>
  </p:transition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5 · LO5 · A5/A9 · K3/K5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Cluster interpretation and limitations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168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standardised lift = cluster mean − overall mean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cluster A spend z=+1.2 and visits z=+0.8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profile lift and stability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5 · LO5 · A5/A9 · K3/K5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Cluster interpretation and limitations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169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Cluster actions are tested and do not encode prohibited discrimination.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5 · LO5 · A5/A9 · K3/K5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Cluster interpretation and limitations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170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Narrative labels exaggerate weak numerical differences.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Publish measured traits, uncertainty, and exclusions before naming segments.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Cluster actions are tested and do not encode prohibited discrimination.</a:t>
            </a:r>
          </a:p>
        </p:txBody>
      </p:sp>
    </p:spTree>
  </p:cSld>
  <p:transition spd="fast">
    <p:fade/>
  </p:transition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5 · PRACTICE 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Lab 10 · Select K with silhouette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171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3337560" cy="40690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76272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CENTRAL APP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788920"/>
            <a:ext cx="283464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Clustering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182880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9160" y="199339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INPUT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198424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Lab 10 mock CSV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60" y="306324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09160" y="322783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B253A"/>
                </a:solidFill>
                <a:latin typeface="Aptos"/>
              </a:rPr>
              <a:t>MECHANISM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21868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Clustering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429768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446227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EVIDENCE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445312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metric + chart + interpretation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5650992"/>
            <a:ext cx="67665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62727B"/>
                </a:solidFill>
                <a:latin typeface="Aptos"/>
              </a:rPr>
              <a:t>The full click path, commands, checks, troubleshooting, and cleanup are in the Learner Guide and lab folder.</a:t>
            </a:r>
          </a:p>
        </p:txBody>
      </p:sp>
      <p:sp>
        <p:nvSpPr>
          <p:cNvPr id="31" name="Rounded Rectangle 30">
            <a:hlinkClick r:id="rId2"/>
          </p:cNvPr>
          <p:cNvSpPr/>
          <p:nvPr/>
        </p:nvSpPr>
        <p:spPr>
          <a:xfrm>
            <a:off x="1005840" y="4956048"/>
            <a:ext cx="2880360" cy="347472"/>
          </a:xfrm>
          <a:prstGeom prst="roundRect">
            <a:avLst>
              <a:gd name="adj" fmla="val 16000"/>
            </a:avLst>
          </a:prstGeom>
          <a:solidFill>
            <a:srgbClr val="0F766E"/>
          </a:solidFill>
          <a:ln w="1397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none"/>
          <a:lstStyle/>
          <a:p>
            <a:pPr algn="ctr"/>
            <a:r>
              <a:rPr sz="1150" b="1" u="none">
                <a:solidFill>
                  <a:srgbClr val="FFFFFF"/>
                </a:solidFill>
                <a:latin typeface="Aptos"/>
              </a:rPr>
              <a:t>OPEN CENTRAL LAB PORTAL</a:t>
            </a:r>
          </a:p>
        </p:txBody>
      </p:sp>
    </p:spTree>
  </p:cSld>
  <p:transition spd="fast">
    <p:fade/>
  </p:transition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VERIFY · FAILURE CLINIC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Lab 10 · acceptance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172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F766E"/>
                </a:solidFill>
                <a:latin typeface="Aptos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Record inputs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B253A"/>
                </a:solidFill>
                <a:latin typeface="Apto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Capture parameters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59E0B"/>
                </a:solidFill>
                <a:latin typeface="Apto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Export results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8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3B82F6"/>
                </a:solidFill>
                <a:latin typeface="Apto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Explain limits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4892040"/>
            <a:ext cx="10561320" cy="7772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560" y="5102352"/>
            <a:ext cx="101041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"/>
              </a:rPr>
              <a:t>PASS: Select K with silhouette evidence produces a reproducible artifact and a defensible interpretation—not only a screenshot.</a:t>
            </a:r>
          </a:p>
        </p:txBody>
      </p:sp>
    </p:spTree>
  </p:cSld>
  <p:transition spd="fast">
    <p:fade/>
  </p:transition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5 · PRACTICE 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Lab 11 · Cut a hierarchical dendrogram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173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3337560" cy="40690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76272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CENTRAL APP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788920"/>
            <a:ext cx="283464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Hierarchical clustering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182880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9160" y="199339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INPUT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198424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Lab 11 mock CSV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60" y="306324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09160" y="322783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B253A"/>
                </a:solidFill>
                <a:latin typeface="Aptos"/>
              </a:rPr>
              <a:t>MECHANISM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21868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Hierarchical clustering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429768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446227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EVIDENCE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445312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metric + chart + interpretation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5650992"/>
            <a:ext cx="67665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62727B"/>
                </a:solidFill>
                <a:latin typeface="Aptos"/>
              </a:rPr>
              <a:t>The full click path, commands, checks, troubleshooting, and cleanup are in the Learner Guide and lab folder.</a:t>
            </a:r>
          </a:p>
        </p:txBody>
      </p:sp>
      <p:sp>
        <p:nvSpPr>
          <p:cNvPr id="31" name="Rounded Rectangle 30">
            <a:hlinkClick r:id="rId2"/>
          </p:cNvPr>
          <p:cNvSpPr/>
          <p:nvPr/>
        </p:nvSpPr>
        <p:spPr>
          <a:xfrm>
            <a:off x="1005840" y="4956048"/>
            <a:ext cx="2880360" cy="347472"/>
          </a:xfrm>
          <a:prstGeom prst="roundRect">
            <a:avLst>
              <a:gd name="adj" fmla="val 16000"/>
            </a:avLst>
          </a:prstGeom>
          <a:solidFill>
            <a:srgbClr val="0F766E"/>
          </a:solidFill>
          <a:ln w="1397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none"/>
          <a:lstStyle/>
          <a:p>
            <a:pPr algn="ctr"/>
            <a:r>
              <a:rPr sz="1150" b="1" u="none">
                <a:solidFill>
                  <a:srgbClr val="FFFFFF"/>
                </a:solidFill>
                <a:latin typeface="Aptos"/>
              </a:rPr>
              <a:t>OPEN CENTRAL LAB PORTAL</a:t>
            </a:r>
          </a:p>
        </p:txBody>
      </p:sp>
    </p:spTree>
  </p:cSld>
  <p:transition spd="fast">
    <p:fade/>
  </p:transition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VERIFY · FAILURE CLINIC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Lab 11 · acceptance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174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F766E"/>
                </a:solidFill>
                <a:latin typeface="Aptos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Record inputs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B253A"/>
                </a:solidFill>
                <a:latin typeface="Apto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Capture parameters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59E0B"/>
                </a:solidFill>
                <a:latin typeface="Apto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Export results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8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3B82F6"/>
                </a:solidFill>
                <a:latin typeface="Apto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Explain limits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4892040"/>
            <a:ext cx="10561320" cy="7772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560" y="5102352"/>
            <a:ext cx="101041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"/>
              </a:rPr>
              <a:t>PASS: Cut a hierarchical dendrogram produces a reproducible artifact and a defensible interpretation—not only a screenshot.</a:t>
            </a:r>
          </a:p>
        </p:txBody>
      </p:sp>
    </p:spTree>
  </p:cSld>
  <p:transition spd="fast">
    <p:fade/>
  </p:transition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D1FAE5"/>
                </a:solidFill>
                <a:latin typeface="Aptos"/>
              </a:rPr>
              <a:t>TOPIC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69848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3900" b="1">
                <a:solidFill>
                  <a:srgbClr val="FFFFFF"/>
                </a:solidFill>
                <a:latin typeface="Aptos"/>
              </a:rPr>
              <a:t>Dimension Reduction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788920"/>
            <a:ext cx="78638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0">
                <a:solidFill>
                  <a:srgbClr val="D1FAE5"/>
                </a:solidFill>
                <a:latin typeface="Aptos"/>
              </a:rPr>
              <a:t>LO6 · A4 · K8 · Compressing variation while retaining evidence</a:t>
            </a:r>
          </a:p>
        </p:txBody>
      </p:sp>
      <p:pic>
        <p:nvPicPr>
          <p:cNvPr id="6" name="Picture 5" descr="data-pipeline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3749039"/>
            <a:ext cx="4279392" cy="2423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8" y="5349240"/>
            <a:ext cx="6629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Mechanism → contract → calculation → evidence →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175</a:t>
            </a:r>
          </a:p>
        </p:txBody>
      </p:sp>
    </p:spTree>
  </p:cSld>
  <p:transition spd="fast">
    <p:fade/>
  </p:transition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6 · LO6 · A4 · K8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Curse of dimensionality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176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65392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0878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Add features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243834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445002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13123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67987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00450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Distances concentrate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03036" y="3611880"/>
            <a:ext cx="201167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204204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172325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718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9652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Neighbourhoods empty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76223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963406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931527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8639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18854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Variance rises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6 · LO6 · A4 · K8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Curse of dimensionality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177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1965960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feature count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2898648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sample count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sparsity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31336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volume effect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redundancy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764024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correlated inputs</a:t>
            </a:r>
          </a:p>
        </p:txBody>
      </p:sp>
    </p:spTree>
  </p:cSld>
  <p:transition spd="fast">
    <p:fade/>
  </p:transition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6 · LO6 · A4 · K8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Curse of dimensionality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178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required coverage grows exponentially with 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10 bins per feature → 10⁶ cells for 6 features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distance contrast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6 · LO6 · A4 · K8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Curse of dimensionality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179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Validation improves or remains stable when a feature is retained.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6 · LO6 · A4 · K8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Curse of dimensionality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180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Adding weak features makes neighbours less distinguishable.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Remove leakage/redundancy and validate feature additions.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Validation improves or remains stable when a feature is retained.</a:t>
            </a:r>
          </a:p>
        </p:txBody>
      </p:sp>
    </p:spTree>
  </p:cSld>
  <p:transition spd="fast">
    <p:fade/>
  </p:transition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6 · LO6 · A4 · K8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Standardisation and covariance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181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65392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0878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Centre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243834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445002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13123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67987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00450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Scale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03036" y="3611880"/>
            <a:ext cx="201167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204204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172325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718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9652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Covariance matrix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76223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963406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931527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8639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18854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Eigen decomposition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6 · LO6 · A4 · K8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Standardisation and covariance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182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mean vector 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1965960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standard deviation 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2898648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covariance 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3831336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symmetric matrix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0" y="4764024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</p:spTree>
  </p:cSld>
  <p:transition spd="fast">
    <p:fade/>
  </p:transition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6 · LO6 · A4 · K8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Standardisation and covariance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183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cov(x,y)=Σ(x−x̄)(y−ȳ)/(n−1)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positive covariance means the two centred features move together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covariance structure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6 · LO6 · A4 · K8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Standardisation and covariance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184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Each scaled feature has near-zero mean and unit variance on training data.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6 · LO6 · A4 · K8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Standardisation and covariance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185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PCA on raw units lets high-variance currency fields dominate ratios.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Standardise features when units and scales differ.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Each scaled feature has near-zero mean and unit variance on training data.</a:t>
            </a:r>
          </a:p>
        </p:txBody>
      </p:sp>
    </p:spTree>
  </p:cSld>
  <p:transition spd="fast">
    <p:fade/>
  </p:transition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6 · LO6 · A4 · K8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Principal components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186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65392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0878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Compute eigenvectors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243834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445002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13123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67987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00450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Order eigenvalues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03036" y="3611880"/>
            <a:ext cx="201167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204204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172325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718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9652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Project rows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76223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963406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931527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8639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18854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Retain components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6 · LO6 · A4 · K8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Principal components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187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loading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1965960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feature weight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score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2898648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projected row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eigenvalue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31336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variance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orthogonal axes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0" y="4764024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</p:spTree>
  </p:cSld>
  <p:transition spd="fast">
    <p:fade/>
  </p:transition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6 · LO6 · A4 · K8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Principal components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188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Z = XW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two correlated measures rotate into PC1 along shared variation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explained variance ratio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6 · LO6 · A4 · K8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Principal components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189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Projected scores reproduce from saved scaler and PCA objects.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6 · LO6 · A4 · K8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Principal components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190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Interpreting component sign as inherently positive or negative; signs may flip.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Interpret relative loading magnitude and relationships, not arbitrary sign alone.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Projected scores reproduce from saved scaler and PCA objects.</a:t>
            </a:r>
          </a:p>
        </p:txBody>
      </p:sp>
    </p:spTree>
  </p:cSld>
  <p:transition spd="fast">
    <p:fade/>
  </p:transition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6 · LO6 · A4 · K8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Retained variance and loadings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191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37800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286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Fit full PCA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1993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893161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8536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4022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609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Cumulative sum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99355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100523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92724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4758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5971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Find threshold crossing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671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307884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0085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5494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3332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Refit n components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31407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515246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07447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231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0694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Inspect loadings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6 · LO6 · A4 · K8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Retained variance and loadings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192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variance target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1965960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0.70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2898648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first crossing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loading magnitude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3831336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reconstruction loss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0" y="4764024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</p:spTree>
  </p:cSld>
  <p:transition spd="fast">
    <p:fade/>
  </p:transition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6 · LO6 · A4 · K8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Retained variance and loadings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193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n=min{k:Σᵢ≤k varianceᵢ ≥ .70}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46% + 27% = 73% → retain 2 components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cumulative explained variance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6 · LO6 · A4 · K8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Retained variance and loadings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194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The selected n is the first threshold crossing and is recorded with the data version.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6 · LO6 · A4 · K8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Retained variance and loadings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195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Choosing 70% mechanically when the discarded component contains rare critical behaviour.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Review reconstruction errors and downstream performance.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The selected n is the first threshold crossing and is recorded with the data version.</a:t>
            </a:r>
          </a:p>
        </p:txBody>
      </p:sp>
    </p:spTree>
  </p:cSld>
  <p:transition spd="fast">
    <p:fade/>
  </p:transition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6 · LO6 · A4 · K8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Feature ranking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196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37800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286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Fit baseline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1993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893161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8536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4022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609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Permute one feature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99355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100523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92724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4758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5971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Rescore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671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307884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0085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5494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3332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Measure drop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31407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515246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07447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231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0694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Repeat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6 · LO6 · A4 · K8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Feature ranking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197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importance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1965960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score decrease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repeats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2898648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uncertainty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correlation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31336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shared credit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target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764024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defined</a:t>
            </a:r>
          </a:p>
        </p:txBody>
      </p:sp>
    </p:spTree>
  </p:cSld>
  <p:transition spd="fast">
    <p:fade/>
  </p:transition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6 · LO6 · A4 · K8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Feature ranking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198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importance_j = score(X) − score(permute X_j)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.91 baseline − .78 permuted = .13 importance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permutation importance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6 · LO6 · A4 · K8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Feature ranking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199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Importance is positive, repeatable, and connected to an auditable model score.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6 · LO6 · A4 · K8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Feature ranking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Correlated variables split or mask importance and ranking is mistaken for causality.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Group correlated features and validate rankings on hold-out data.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Importance is positive, repeatable, and connected to an auditable model score.</a:t>
            </a:r>
          </a:p>
        </p:txBody>
      </p:sp>
    </p:spTree>
  </p:cSld>
  <p:transition spd="fast">
    <p:fade/>
  </p:transition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6 · PRACTICE 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Lab 12 · Retain variance with PCA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201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3337560" cy="40690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76272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CENTRAL APP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788920"/>
            <a:ext cx="283464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PCA &amp; feature ranking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182880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9160" y="199339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INPUT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198424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Lab 12 mock CSV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60" y="306324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09160" y="322783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B253A"/>
                </a:solidFill>
                <a:latin typeface="Aptos"/>
              </a:rPr>
              <a:t>MECHANISM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21868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PCA &amp; feature ranking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429768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446227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EVIDENCE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445312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metric + chart + interpretation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5650992"/>
            <a:ext cx="67665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62727B"/>
                </a:solidFill>
                <a:latin typeface="Aptos"/>
              </a:rPr>
              <a:t>The full click path, commands, checks, troubleshooting, and cleanup are in the Learner Guide and lab folder.</a:t>
            </a:r>
          </a:p>
        </p:txBody>
      </p:sp>
      <p:sp>
        <p:nvSpPr>
          <p:cNvPr id="31" name="Rounded Rectangle 30">
            <a:hlinkClick r:id="rId2"/>
          </p:cNvPr>
          <p:cNvSpPr/>
          <p:nvPr/>
        </p:nvSpPr>
        <p:spPr>
          <a:xfrm>
            <a:off x="1005840" y="4956048"/>
            <a:ext cx="2880360" cy="347472"/>
          </a:xfrm>
          <a:prstGeom prst="roundRect">
            <a:avLst>
              <a:gd name="adj" fmla="val 16000"/>
            </a:avLst>
          </a:prstGeom>
          <a:solidFill>
            <a:srgbClr val="0F766E"/>
          </a:solidFill>
          <a:ln w="1397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none"/>
          <a:lstStyle/>
          <a:p>
            <a:pPr algn="ctr"/>
            <a:r>
              <a:rPr sz="1150" b="1" u="none">
                <a:solidFill>
                  <a:srgbClr val="FFFFFF"/>
                </a:solidFill>
                <a:latin typeface="Aptos"/>
              </a:rPr>
              <a:t>OPEN CENTRAL LAB PORTAL</a:t>
            </a:r>
          </a:p>
        </p:txBody>
      </p:sp>
    </p:spTree>
  </p:cSld>
  <p:transition spd="fast">
    <p:fade/>
  </p:transition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VERIFY · FAILURE CLINIC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Lab 12 · acceptance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202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F766E"/>
                </a:solidFill>
                <a:latin typeface="Aptos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Record inputs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B253A"/>
                </a:solidFill>
                <a:latin typeface="Apto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Capture parameters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59E0B"/>
                </a:solidFill>
                <a:latin typeface="Apto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Export results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8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3B82F6"/>
                </a:solidFill>
                <a:latin typeface="Apto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Explain limits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4892040"/>
            <a:ext cx="10561320" cy="7772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560" y="5102352"/>
            <a:ext cx="101041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"/>
              </a:rPr>
              <a:t>PASS: Retain variance with PCA produces a reproducible artifact and a defensible interpretation—not only a screenshot.</a:t>
            </a:r>
          </a:p>
        </p:txBody>
      </p:sp>
    </p:spTree>
  </p:cSld>
  <p:transition spd="fast">
    <p:fade/>
  </p:transition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6 · PRACTICE 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Lab 13 · Rank predictive features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203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3337560" cy="40690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76272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CENTRAL APP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788920"/>
            <a:ext cx="283464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PCA &amp; feature ranking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182880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9160" y="199339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INPUT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198424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Lab 13 mock CSV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60" y="306324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09160" y="322783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B253A"/>
                </a:solidFill>
                <a:latin typeface="Aptos"/>
              </a:rPr>
              <a:t>MECHANISM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21868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PCA &amp; feature ranking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429768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446227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EVIDENCE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445312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metric + chart + interpretation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5650992"/>
            <a:ext cx="67665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62727B"/>
                </a:solidFill>
                <a:latin typeface="Aptos"/>
              </a:rPr>
              <a:t>The full click path, commands, checks, troubleshooting, and cleanup are in the Learner Guide and lab folder.</a:t>
            </a:r>
          </a:p>
        </p:txBody>
      </p:sp>
      <p:sp>
        <p:nvSpPr>
          <p:cNvPr id="31" name="Rounded Rectangle 30">
            <a:hlinkClick r:id="rId2"/>
          </p:cNvPr>
          <p:cNvSpPr/>
          <p:nvPr/>
        </p:nvSpPr>
        <p:spPr>
          <a:xfrm>
            <a:off x="1005840" y="4956048"/>
            <a:ext cx="2880360" cy="347472"/>
          </a:xfrm>
          <a:prstGeom prst="roundRect">
            <a:avLst>
              <a:gd name="adj" fmla="val 16000"/>
            </a:avLst>
          </a:prstGeom>
          <a:solidFill>
            <a:srgbClr val="0F766E"/>
          </a:solidFill>
          <a:ln w="1397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none"/>
          <a:lstStyle/>
          <a:p>
            <a:pPr algn="ctr"/>
            <a:r>
              <a:rPr sz="1150" b="1" u="none">
                <a:solidFill>
                  <a:srgbClr val="FFFFFF"/>
                </a:solidFill>
                <a:latin typeface="Aptos"/>
              </a:rPr>
              <a:t>OPEN CENTRAL LAB PORTAL</a:t>
            </a:r>
          </a:p>
        </p:txBody>
      </p:sp>
    </p:spTree>
  </p:cSld>
  <p:transition spd="fast">
    <p:fade/>
  </p:transition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VERIFY · FAILURE CLINIC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Lab 13 · acceptance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204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F766E"/>
                </a:solidFill>
                <a:latin typeface="Aptos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Record inputs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B253A"/>
                </a:solidFill>
                <a:latin typeface="Apto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Capture parameters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59E0B"/>
                </a:solidFill>
                <a:latin typeface="Apto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Export results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8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3B82F6"/>
                </a:solidFill>
                <a:latin typeface="Apto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Explain limits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4892040"/>
            <a:ext cx="10561320" cy="7772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560" y="5102352"/>
            <a:ext cx="101041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"/>
              </a:rPr>
              <a:t>PASS: Rank predictive features produces a reproducible artifact and a defensible interpretation—not only a screenshot.</a:t>
            </a:r>
          </a:p>
        </p:txBody>
      </p:sp>
    </p:spTree>
  </p:cSld>
  <p:transition spd="fast">
    <p:fade/>
  </p:transition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D1FAE5"/>
                </a:solidFill>
                <a:latin typeface="Aptos"/>
              </a:rPr>
              <a:t>TOPIC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69848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3900" b="1">
                <a:solidFill>
                  <a:srgbClr val="FFFFFF"/>
                </a:solidFill>
                <a:latin typeface="Aptos"/>
              </a:rPr>
              <a:t>Association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788920"/>
            <a:ext cx="78638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0">
                <a:solidFill>
                  <a:srgbClr val="D1FAE5"/>
                </a:solidFill>
                <a:latin typeface="Aptos"/>
              </a:rPr>
              <a:t>LO7 · A3 · K9 · From baskets to defensible co-occurrence rules</a:t>
            </a:r>
          </a:p>
        </p:txBody>
      </p:sp>
      <p:pic>
        <p:nvPicPr>
          <p:cNvPr id="6" name="Picture 5" descr="human-analytics-collabo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3749039"/>
            <a:ext cx="4279392" cy="2423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8" y="5349240"/>
            <a:ext cx="6629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Mechanism → contract → calculation → evidence →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205</a:t>
            </a:r>
          </a:p>
        </p:txBody>
      </p:sp>
    </p:spTree>
  </p:cSld>
  <p:transition spd="fast">
    <p:fade/>
  </p:transition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7 · LO7 · A3 · K9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Transaction-to-basket encoding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206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65392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0878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Transaction rows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243834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445002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13123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67987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00450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Group by ID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03036" y="3611880"/>
            <a:ext cx="201167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204204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172325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718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9652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One-hot items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76223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963406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931527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8639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18854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Boolean basket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7 · LO7 · A3 · K9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Transaction-to-basket encoding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207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transaction_id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1965960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grouping key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item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2898648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canonical label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cell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31336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present/absent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duplicates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764024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collapse</a:t>
            </a:r>
          </a:p>
        </p:txBody>
      </p:sp>
    </p:spTree>
  </p:cSld>
  <p:transition spd="fast">
    <p:fade/>
  </p:transition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7 · LO7 · A3 · K9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Transaction-to-basket encoding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208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basket[t,i]=1 if item i occurs in transaction 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T001 milk+diapers+beer → three True cells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basket density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7 · LO7 · A3 · K9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Transaction-to-basket encoding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209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One encoded row exists per transaction and item counts reconcile.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7 · LO7 · A3 · K9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Transaction-to-basket encoding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210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Treating purchase quantity as repeated independent transactions.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Define the basket unit and collapse duplicate item lines per transaction.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One encoded row exists per transaction and item counts reconcile.</a:t>
            </a:r>
          </a:p>
        </p:txBody>
      </p:sp>
    </p:spTree>
  </p:cSld>
  <p:transition spd="fast">
    <p:fade/>
  </p:transition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7 · LO7 · A3 · K9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Support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211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3477768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13788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6865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3166872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Count baskets containing itemset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163567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364736" y="1965960"/>
            <a:ext cx="3477768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792724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4758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0184" y="3182112"/>
            <a:ext cx="3166872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Divide by all baskets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842504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043672" y="1965960"/>
            <a:ext cx="3477768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471660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2652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99120" y="3182112"/>
            <a:ext cx="3166872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Apply threshold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7 · LO7 · A3 · K9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Support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212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support(A)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1965960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support(A∩B)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2898648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minimum support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3831336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denominator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764024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all transactions</a:t>
            </a:r>
          </a:p>
        </p:txBody>
      </p:sp>
    </p:spTree>
  </p:cSld>
  <p:transition spd="fast">
    <p:fade/>
  </p:transition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7 · LO7 · A3 · K9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Support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213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support(A)=count(A)/N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beer appears in 8 of 15 baskets → support=.533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support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7 · LO7 · A3 · K9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Support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214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Manual counts for selected itemsets match the mined result.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7 · LO7 · A3 · K9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Support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215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A high minimum support removes valuable niche patterns.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Tune support to transaction volume and decision value.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Manual counts for selected itemsets match the mined result.</a:t>
            </a:r>
          </a:p>
        </p:txBody>
      </p:sp>
    </p:spTree>
  </p:cSld>
  <p:transition spd="fast">
    <p:fade/>
  </p:transition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7 · LO7 · A3 · K9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Confidence and lift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216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65392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0878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Select antecedent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243834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445002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13123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67987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00450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Count joint occurrence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03036" y="3611880"/>
            <a:ext cx="201167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204204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172325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718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9652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Condition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76223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963406" y="1965960"/>
            <a:ext cx="2558034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931527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8639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18854" y="3182112"/>
            <a:ext cx="2247138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Normalise by consequent prevalence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7 · LO7 · A3 · K9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Confidence and lift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217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confidence(A→B)=support(A∩B)/support(A)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1965960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lift=confidence/support(B)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2898648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lift&gt;1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31336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positive association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direction matters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0" y="4764024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</p:spTree>
  </p:cSld>
  <p:transition spd="fast">
    <p:fade/>
  </p:transition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7 · LO7 · A3 · K9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Confidence and lift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218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lift(A→B)=support(A∩B)/(support(A)support(B))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.40/(.50×.50)=1.60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confidence and lift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7 · LO7 · A3 · K9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Confidence and lift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219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The rule includes support, confidence, lift, and basket counts.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7 · LO7 · A3 · K9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Confidence and lift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220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High confidence for a universally popular item is mistaken for a useful rule.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Require lift above 1 and assess absolute support.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The rule includes support, confidence, lift, and basket counts.</a:t>
            </a:r>
          </a:p>
        </p:txBody>
      </p:sp>
    </p:spTree>
  </p:cSld>
  <p:transition spd="fast">
    <p:fade/>
  </p:transition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7 · LO7 · A3 · K9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Apriori candidate pruning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221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37800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286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Frequent 1-itemsets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1993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893161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8536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4022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609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Join candidates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99355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100523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92724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4758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5971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Prune infrequent subsets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671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307884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0085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5494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3332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Count support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31407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515246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07447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231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0694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Repeat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7 · LO7 · A3 · K9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Apriori candidate pruning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222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downward closure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1965960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candidate level 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2898648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minimum support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3831336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#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900684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frequent itemset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0" y="4764024"/>
            <a:ext cx="914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/>
            </a:r>
          </a:p>
        </p:txBody>
      </p:sp>
    </p:spTree>
  </p:cSld>
  <p:transition spd="fast">
    <p:fade/>
  </p:transition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7 · LO7 · A3 · K9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Apriori candidate pruning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223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if itemset S is infrequent, every superset of S is infrequent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{milk,diapers} below threshold → prune all triples containing both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candidate count by level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7 · LO7 · A3 · K9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Apriori candidate pruning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224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Candidate counts shrink after pruning and results reproduce at the same threshold.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7 · LO7 · A3 · K9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Apriori candidate pruning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225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A low threshold creates a combinatorial explosion of candidates.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Start with a defensible support floor and cap itemset length.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Candidate counts shrink after pruning and results reproduce at the same threshold.</a:t>
            </a:r>
          </a:p>
        </p:txBody>
      </p:sp>
    </p:spTree>
  </p:cSld>
  <p:transition spd="fast">
    <p:fade/>
  </p:transition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7 · LO7 · A3 · K9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Rule filtering and business action · runtime mechanism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226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37800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286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Generate rules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1993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893161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8536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4022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609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Apply thresholds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99355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100523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92724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4758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5971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Remove redundancy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671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307884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0085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5494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3332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Review plausibility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31407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515246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07447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231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0694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Test offer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TOPIC 7 · LO7 · A3 · K9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Rule filtering and business action · concrete contract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227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1947672"/>
            <a:ext cx="457200" cy="457200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5" y="2039112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1965960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antecedent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1965960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trigger basket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761488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2880360"/>
            <a:ext cx="457200" cy="45720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5" y="2971800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2898648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consequent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2898648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suggested item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694176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3813048"/>
            <a:ext cx="457200" cy="45720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5" y="3904488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831336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leverage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3831336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excess joint rate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626864"/>
            <a:ext cx="106527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7552" y="4745736"/>
            <a:ext cx="457200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837176"/>
            <a:ext cx="347472" cy="182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{}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4208" y="4764024"/>
            <a:ext cx="2926080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 Display"/>
              </a:rPr>
              <a:t>action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764024"/>
            <a:ext cx="6720840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2727B"/>
                </a:solidFill>
                <a:latin typeface="Aptos"/>
              </a:rPr>
              <a:t>controlled test</a:t>
            </a:r>
          </a:p>
        </p:txBody>
      </p:sp>
    </p:spTree>
  </p:cSld>
  <p:transition spd="fast">
    <p:fade/>
  </p:transition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TOPIC 7 · LO7 · A3 · K9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Rule filtering and business action · worked calculation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228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47088"/>
            <a:ext cx="10652760" cy="10972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48840"/>
            <a:ext cx="1010412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mbria Math"/>
              </a:rPr>
              <a:t>leverage=support(A∩B)−support(A)support(B)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1012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WORKED EXAMPLE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675887"/>
            <a:ext cx="6858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005072"/>
            <a:ext cx="63093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2A43"/>
                </a:solidFill>
                <a:latin typeface="Aptos"/>
              </a:rPr>
              <a:t>.40−(.50×.50)=.15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675887"/>
            <a:ext cx="3456432" cy="141732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3913632"/>
            <a:ext cx="2907792" cy="21945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READOUT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270248"/>
            <a:ext cx="2907792" cy="4389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B253A"/>
                </a:solidFill>
                <a:latin typeface="Aptos"/>
              </a:rPr>
              <a:t>incremental basket outcome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87568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Show units, denominator, and the comparison baseline.</a:t>
            </a:r>
          </a:p>
        </p:txBody>
      </p:sp>
    </p:spTree>
  </p:cSld>
  <p:transition spd="fast">
    <p:fade/>
  </p:transition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7 · LO7 · A3 · K9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102A43"/>
                </a:solidFill>
                <a:latin typeface="Aptos"/>
              </a:rPr>
              <a:t>Rule filtering and business action ·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229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783080"/>
          <a:ext cx="70408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92440" y="1847088"/>
            <a:ext cx="3337560" cy="3977639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27432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WHAT THE DATA SHOWS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880360"/>
            <a:ext cx="2724912" cy="1965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The action has an owner, audience, guardrail, and measured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102352"/>
            <a:ext cx="269748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0">
                <a:solidFill>
                  <a:srgbClr val="D1FAE5"/>
                </a:solidFill>
                <a:latin typeface="Aptos"/>
              </a:rPr>
              <a:t>Evidence becomes a decision only after scope and uncertainty are stated.</a:t>
            </a:r>
          </a:p>
        </p:txBody>
      </p:sp>
    </p:spTree>
  </p:cSld>
  <p:transition spd="fast">
    <p:fade/>
  </p:transition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TOPIC 7 · LO7 · A3 · K9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102A43"/>
                </a:solidFill>
                <a:latin typeface="Aptos"/>
              </a:rPr>
              <a:t>Rule filtering and business action · failure and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230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Deploying a bundle solely because lift is high on a tiny sample.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Require minimum counts and validate with a controlled promotion.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The action has an owner, audience, guardrail, and measured outcome.</a:t>
            </a:r>
          </a:p>
        </p:txBody>
      </p:sp>
    </p:spTree>
  </p:cSld>
  <p:transition spd="fast">
    <p:fade/>
  </p:transition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TOPIC 7 · PRACTICE 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Lab 14 · Mine market-basket rules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231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28800"/>
            <a:ext cx="3337560" cy="4069080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76272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D1FAE5"/>
                </a:solidFill>
                <a:latin typeface="Aptos"/>
              </a:rPr>
              <a:t>CENTRAL APP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788920"/>
            <a:ext cx="2834640" cy="11430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Association rules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182880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9160" y="199339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INPUT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198424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Lab 14 mock CSV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60" y="306324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09160" y="322783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B253A"/>
                </a:solidFill>
                <a:latin typeface="Aptos"/>
              </a:rPr>
              <a:t>MECHANISM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21868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Association rules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4297680"/>
            <a:ext cx="69037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60" y="4462272"/>
            <a:ext cx="141732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EVIDENCE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4453128"/>
            <a:ext cx="4800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metric + chart + interpretation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5650992"/>
            <a:ext cx="67665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62727B"/>
                </a:solidFill>
                <a:latin typeface="Aptos"/>
              </a:rPr>
              <a:t>The full click path, commands, checks, troubleshooting, and cleanup are in the Learner Guide and lab folder.</a:t>
            </a:r>
          </a:p>
        </p:txBody>
      </p:sp>
      <p:sp>
        <p:nvSpPr>
          <p:cNvPr id="31" name="Rounded Rectangle 30">
            <a:hlinkClick r:id="rId2"/>
          </p:cNvPr>
          <p:cNvSpPr/>
          <p:nvPr/>
        </p:nvSpPr>
        <p:spPr>
          <a:xfrm>
            <a:off x="1005840" y="4956048"/>
            <a:ext cx="2880360" cy="347472"/>
          </a:xfrm>
          <a:prstGeom prst="roundRect">
            <a:avLst>
              <a:gd name="adj" fmla="val 16000"/>
            </a:avLst>
          </a:prstGeom>
          <a:solidFill>
            <a:srgbClr val="0F766E"/>
          </a:solidFill>
          <a:ln w="1397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9144" bIns="9144" wrap="none"/>
          <a:lstStyle/>
          <a:p>
            <a:pPr algn="ctr"/>
            <a:r>
              <a:rPr sz="1150" b="1" u="none">
                <a:solidFill>
                  <a:srgbClr val="FFFFFF"/>
                </a:solidFill>
                <a:latin typeface="Aptos"/>
              </a:rPr>
              <a:t>OPEN CENTRAL LAB PORTAL</a:t>
            </a:r>
          </a:p>
        </p:txBody>
      </p:sp>
    </p:spTree>
  </p:cSld>
  <p:transition spd="fast">
    <p:fade/>
  </p:transition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ptos"/>
              </a:rPr>
              <a:t>VERIFY · FAILURE CLINIC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Lab 14 · acceptance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232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F766E"/>
                </a:solidFill>
                <a:latin typeface="Aptos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Record inputs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0B253A"/>
                </a:solidFill>
                <a:latin typeface="Apto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Capture parameters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0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59E0B"/>
                </a:solidFill>
                <a:latin typeface="Apto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Export results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840" y="1901952"/>
            <a:ext cx="24231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19" y="2221992"/>
            <a:ext cx="6858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3B82F6"/>
                </a:solidFill>
                <a:latin typeface="Apto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953512"/>
            <a:ext cx="19659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Explain limits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4892040"/>
            <a:ext cx="10561320" cy="77724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560" y="5102352"/>
            <a:ext cx="101041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0B253A"/>
                </a:solidFill>
                <a:latin typeface="Aptos"/>
              </a:rPr>
              <a:t>PASS: Mine market-basket rules produces a reproducible artifact and a defensible interpretation—not only a screenshot.</a:t>
            </a:r>
          </a:p>
        </p:txBody>
      </p:sp>
    </p:spTree>
  </p:cSld>
  <p:transition spd="fast">
    <p:fade/>
  </p:transition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D1FAE5"/>
                </a:solidFill>
                <a:latin typeface="Aptos"/>
              </a:rPr>
              <a:t>ORIGINAL CONTENT · CONSOLIDATED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51560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3800" b="1">
                <a:solidFill>
                  <a:srgbClr val="FFFFFF"/>
                </a:solidFill>
                <a:latin typeface="Aptos"/>
              </a:rPr>
              <a:t>Python mechanism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514600"/>
            <a:ext cx="8961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D1FAE5"/>
                </a:solidFill>
                <a:latin typeface="Aptos"/>
              </a:rPr>
              <a:t>The v16 technical topics are retained below as runnable Python concepts and checks.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233</a:t>
            </a:r>
          </a:p>
        </p:txBody>
      </p:sp>
    </p:spTree>
  </p:cSld>
  <p:transition spd="fast">
    <p:fade/>
  </p:transition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V16 COVERAGE · PYTHON REPLACEMENT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CSV import and data table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234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74519"/>
            <a:ext cx="667512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94560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MECHANISM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2743200"/>
            <a:ext cx="6080760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100" b="1">
                <a:solidFill>
                  <a:srgbClr val="102A43"/>
                </a:solidFill>
                <a:latin typeface="Aptos"/>
              </a:rPr>
              <a:t>Parser assigns types; validation quarantines malformed rows.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18120" y="1874519"/>
            <a:ext cx="3611880" cy="361188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92440" y="2194560"/>
            <a:ext cx="3017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VERIFY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2743200"/>
            <a:ext cx="2971800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0B253A"/>
                </a:solidFill>
                <a:latin typeface="Aptos"/>
              </a:rPr>
              <a:t>Schema + row-count reconciliation</a:t>
            </a:r>
          </a:p>
        </p:txBody>
      </p:sp>
    </p:spTree>
  </p:cSld>
  <p:transition spd="fast">
    <p:fade/>
  </p:transition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V16 COVERAGE · PYTHON REPLACEMENT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Scatter plots and interactive subsets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235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965960"/>
            <a:ext cx="22860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2286000"/>
            <a:ext cx="1920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834640"/>
            <a:ext cx="182880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102A43"/>
                </a:solidFill>
                <a:latin typeface="Aptos"/>
              </a:rPr>
              <a:t>typed data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91840" y="1965960"/>
            <a:ext cx="45720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0" y="2286000"/>
            <a:ext cx="4206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B253A"/>
                </a:solidFill>
                <a:latin typeface="Aptos"/>
              </a:rPr>
              <a:t>PYTHON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2834640"/>
            <a:ext cx="411480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102A43"/>
                </a:solidFill>
                <a:latin typeface="Aptos"/>
              </a:rPr>
              <a:t>Selections must retain stable row identifiers.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1965960"/>
            <a:ext cx="3063240" cy="338328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19" y="2286000"/>
            <a:ext cx="26974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PROOF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834640"/>
            <a:ext cx="260604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102A43"/>
                </a:solidFill>
                <a:latin typeface="Aptos"/>
              </a:rPr>
              <a:t>Selected + excluded = source</a:t>
            </a:r>
          </a:p>
        </p:txBody>
      </p:sp>
    </p:spTree>
  </p:cSld>
  <p:transition spd="fast">
    <p:fade/>
  </p:transition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V16 COVERAGE · PYTHON REPLACEMENT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Select columns and rows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236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74519"/>
            <a:ext cx="667512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94560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MECHANISM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2743200"/>
            <a:ext cx="6080760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100" b="1">
                <a:solidFill>
                  <a:srgbClr val="102A43"/>
                </a:solidFill>
                <a:latin typeface="Aptos"/>
              </a:rPr>
              <a:t>Feature role and row predicate are explicit contracts.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18120" y="1874519"/>
            <a:ext cx="3611880" cy="361188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92440" y="2194560"/>
            <a:ext cx="3017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VERIFY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2743200"/>
            <a:ext cx="2971800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0B253A"/>
                </a:solidFill>
                <a:latin typeface="Aptos"/>
              </a:rPr>
              <a:t>No target leakage</a:t>
            </a:r>
          </a:p>
        </p:txBody>
      </p:sp>
    </p:spTree>
  </p:cSld>
  <p:transition spd="fast">
    <p:fade/>
  </p:transition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V16 COVERAGE · PYTHON REPLACEMENT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Merge and concatenate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237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965960"/>
            <a:ext cx="22860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2286000"/>
            <a:ext cx="1920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834640"/>
            <a:ext cx="182880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102A43"/>
                </a:solidFill>
                <a:latin typeface="Aptos"/>
              </a:rPr>
              <a:t>typed data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91840" y="1965960"/>
            <a:ext cx="45720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0" y="2286000"/>
            <a:ext cx="4206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B253A"/>
                </a:solidFill>
                <a:latin typeface="Aptos"/>
              </a:rPr>
              <a:t>PYTHON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2834640"/>
            <a:ext cx="411480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102A43"/>
                </a:solidFill>
                <a:latin typeface="Aptos"/>
              </a:rPr>
              <a:t>Join keys control horizontal integration; concat stacks compatible schemas.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1965960"/>
            <a:ext cx="3063240" cy="338328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19" y="2286000"/>
            <a:ext cx="26974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PROOF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834640"/>
            <a:ext cx="260604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102A43"/>
                </a:solidFill>
                <a:latin typeface="Aptos"/>
              </a:rPr>
              <a:t>Cardinality and totals reconcile</a:t>
            </a:r>
          </a:p>
        </p:txBody>
      </p:sp>
    </p:spTree>
  </p:cSld>
  <p:transition spd="fast">
    <p:fade/>
  </p:transition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V16 COVERAGE · PYTHON REPLACEMENT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Sampling, transpose, and randomisation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238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74519"/>
            <a:ext cx="667512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94560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MECHANISM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2743200"/>
            <a:ext cx="6080760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100" b="1">
                <a:solidFill>
                  <a:srgbClr val="102A43"/>
                </a:solidFill>
                <a:latin typeface="Aptos"/>
              </a:rPr>
              <a:t>Sampling estimates; transpose changes unit-of-analysis; shuffling breaks order dependence.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18120" y="1874519"/>
            <a:ext cx="3611880" cy="361188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92440" y="2194560"/>
            <a:ext cx="3017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VERIFY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2743200"/>
            <a:ext cx="2971800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0B253A"/>
                </a:solidFill>
                <a:latin typeface="Aptos"/>
              </a:rPr>
              <a:t>Seed and row identity recorded</a:t>
            </a:r>
          </a:p>
        </p:txBody>
      </p:sp>
    </p:spTree>
  </p:cSld>
  <p:transition spd="fast">
    <p:fade/>
  </p:transition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V16 COVERAGE · PYTHON REPLACEMENT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Feature statistics and save data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239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965960"/>
            <a:ext cx="22860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2286000"/>
            <a:ext cx="1920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834640"/>
            <a:ext cx="182880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102A43"/>
                </a:solidFill>
                <a:latin typeface="Aptos"/>
              </a:rPr>
              <a:t>typed data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91840" y="1965960"/>
            <a:ext cx="45720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0" y="2286000"/>
            <a:ext cx="4206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B253A"/>
                </a:solidFill>
                <a:latin typeface="Aptos"/>
              </a:rPr>
              <a:t>PYTHON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2834640"/>
            <a:ext cx="411480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102A43"/>
                </a:solidFill>
                <a:latin typeface="Aptos"/>
              </a:rPr>
              <a:t>Profile values before export; persist a cleaned dataset with provenance.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1965960"/>
            <a:ext cx="3063240" cy="338328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19" y="2286000"/>
            <a:ext cx="26974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PROOF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834640"/>
            <a:ext cx="260604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102A43"/>
                </a:solidFill>
                <a:latin typeface="Aptos"/>
              </a:rPr>
              <a:t>Hash, schema, and row count</a:t>
            </a:r>
          </a:p>
        </p:txBody>
      </p:sp>
    </p:spTree>
  </p:cSld>
  <p:transition spd="fast">
    <p:fade/>
  </p:transition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V16 COVERAGE · PYTHON REPLACEMENT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Decision tree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240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74519"/>
            <a:ext cx="667512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94560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MECHANISM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2743200"/>
            <a:ext cx="6080760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100" b="1">
                <a:solidFill>
                  <a:srgbClr val="102A43"/>
                </a:solidFill>
                <a:latin typeface="Aptos"/>
              </a:rPr>
              <a:t>Recursive impurity reduction forms axis-aligned leaves.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18120" y="1874519"/>
            <a:ext cx="3611880" cy="361188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92440" y="2194560"/>
            <a:ext cx="3017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VERIFY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2743200"/>
            <a:ext cx="2971800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0B253A"/>
                </a:solidFill>
                <a:latin typeface="Aptos"/>
              </a:rPr>
              <a:t>Depth and leaf support</a:t>
            </a:r>
          </a:p>
        </p:txBody>
      </p:sp>
    </p:spTree>
  </p:cSld>
  <p:transition spd="fast">
    <p:fade/>
  </p:transition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V16 COVERAGE · PYTHON REPLACEMENT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Logistic regression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241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965960"/>
            <a:ext cx="22860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2286000"/>
            <a:ext cx="1920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834640"/>
            <a:ext cx="182880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102A43"/>
                </a:solidFill>
                <a:latin typeface="Aptos"/>
              </a:rPr>
              <a:t>typed data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91840" y="1965960"/>
            <a:ext cx="45720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0" y="2286000"/>
            <a:ext cx="4206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B253A"/>
                </a:solidFill>
                <a:latin typeface="Aptos"/>
              </a:rPr>
              <a:t>PYTHON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2834640"/>
            <a:ext cx="411480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102A43"/>
                </a:solidFill>
                <a:latin typeface="Aptos"/>
              </a:rPr>
              <a:t>Linear log-odds become calibrated class probabilities.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1965960"/>
            <a:ext cx="3063240" cy="338328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19" y="2286000"/>
            <a:ext cx="26974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PROOF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834640"/>
            <a:ext cx="260604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102A43"/>
                </a:solidFill>
                <a:latin typeface="Aptos"/>
              </a:rPr>
              <a:t>Calibration plus threshold</a:t>
            </a:r>
          </a:p>
        </p:txBody>
      </p:sp>
    </p:spTree>
  </p:cSld>
  <p:transition spd="fast">
    <p:fade/>
  </p:transition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V16 COVERAGE · PYTHON REPLACEMENT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K-nearest neighbours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242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74519"/>
            <a:ext cx="667512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94560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MECHANISM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2743200"/>
            <a:ext cx="6080760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100" b="1">
                <a:solidFill>
                  <a:srgbClr val="102A43"/>
                </a:solidFill>
                <a:latin typeface="Aptos"/>
              </a:rPr>
              <a:t>Scaled distance and neighbourhood size define the vote.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18120" y="1874519"/>
            <a:ext cx="3611880" cy="361188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92440" y="2194560"/>
            <a:ext cx="3017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VERIFY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2743200"/>
            <a:ext cx="2971800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0B253A"/>
                </a:solidFill>
                <a:latin typeface="Aptos"/>
              </a:rPr>
              <a:t>Sensitivity to k and scaling</a:t>
            </a:r>
          </a:p>
        </p:txBody>
      </p:sp>
    </p:spTree>
  </p:cSld>
  <p:transition spd="fast">
    <p:fade/>
  </p:transition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V16 COVERAGE · PYTHON REPLACEMENT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Support vector machine and kernel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243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965960"/>
            <a:ext cx="22860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2286000"/>
            <a:ext cx="1920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834640"/>
            <a:ext cx="182880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102A43"/>
                </a:solidFill>
                <a:latin typeface="Aptos"/>
              </a:rPr>
              <a:t>typed data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91840" y="1965960"/>
            <a:ext cx="45720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0" y="2286000"/>
            <a:ext cx="4206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B253A"/>
                </a:solidFill>
                <a:latin typeface="Aptos"/>
              </a:rPr>
              <a:t>PYTHON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2834640"/>
            <a:ext cx="411480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102A43"/>
                </a:solidFill>
                <a:latin typeface="Aptos"/>
              </a:rPr>
              <a:t>Margin maximisation separates classes; kernels change similarity space.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1965960"/>
            <a:ext cx="3063240" cy="338328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19" y="2286000"/>
            <a:ext cx="26974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PROOF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834640"/>
            <a:ext cx="260604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102A43"/>
                </a:solidFill>
                <a:latin typeface="Aptos"/>
              </a:rPr>
              <a:t>C, gamma, and held-out AUC</a:t>
            </a:r>
          </a:p>
        </p:txBody>
      </p:sp>
    </p:spTree>
  </p:cSld>
  <p:transition spd="fast">
    <p:fade/>
  </p:transition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V16 COVERAGE · PYTHON REPLACEMENT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Gaussian Naive Bayes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244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74519"/>
            <a:ext cx="667512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94560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MECHANISM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2743200"/>
            <a:ext cx="6080760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100" b="1">
                <a:solidFill>
                  <a:srgbClr val="102A43"/>
                </a:solidFill>
                <a:latin typeface="Aptos"/>
              </a:rPr>
              <a:t>Class priors multiply conditional Gaussian likelihoods.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18120" y="1874519"/>
            <a:ext cx="3611880" cy="361188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92440" y="2194560"/>
            <a:ext cx="3017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VERIFY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2743200"/>
            <a:ext cx="2971800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0B253A"/>
                </a:solidFill>
                <a:latin typeface="Aptos"/>
              </a:rPr>
              <a:t>Likelihood assumptions checked</a:t>
            </a:r>
          </a:p>
        </p:txBody>
      </p:sp>
    </p:spTree>
  </p:cSld>
  <p:transition spd="fast">
    <p:fade/>
  </p:transition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V16 COVERAGE · PYTHON REPLACEMENT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Random forest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245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965960"/>
            <a:ext cx="22860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2286000"/>
            <a:ext cx="1920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834640"/>
            <a:ext cx="182880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102A43"/>
                </a:solidFill>
                <a:latin typeface="Aptos"/>
              </a:rPr>
              <a:t>typed data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91840" y="1965960"/>
            <a:ext cx="45720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0" y="2286000"/>
            <a:ext cx="4206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B253A"/>
                </a:solidFill>
                <a:latin typeface="Aptos"/>
              </a:rPr>
              <a:t>PYTHON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2834640"/>
            <a:ext cx="411480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102A43"/>
                </a:solidFill>
                <a:latin typeface="Aptos"/>
              </a:rPr>
              <a:t>Bootstrap trees plus random feature subsets reduce variance.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1965960"/>
            <a:ext cx="3063240" cy="338328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19" y="2286000"/>
            <a:ext cx="26974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PROOF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834640"/>
            <a:ext cx="260604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102A43"/>
                </a:solidFill>
                <a:latin typeface="Aptos"/>
              </a:rPr>
              <a:t>Out-of-bag or CV score</a:t>
            </a:r>
          </a:p>
        </p:txBody>
      </p:sp>
    </p:spTree>
  </p:cSld>
  <p:transition spd="fast">
    <p:fade/>
  </p:transition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V16 COVERAGE · PYTHON REPLACEMENT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Stacking classifier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246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74519"/>
            <a:ext cx="667512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94560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MECHANISM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2743200"/>
            <a:ext cx="6080760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100" b="1">
                <a:solidFill>
                  <a:srgbClr val="102A43"/>
                </a:solidFill>
                <a:latin typeface="Aptos"/>
              </a:rPr>
              <a:t>Out-of-fold base predictions train a meta-learner without leakage.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18120" y="1874519"/>
            <a:ext cx="3611880" cy="361188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92440" y="2194560"/>
            <a:ext cx="3017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VERIFY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2743200"/>
            <a:ext cx="2971800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0B253A"/>
                </a:solidFill>
                <a:latin typeface="Aptos"/>
              </a:rPr>
              <a:t>Meta-features are out-of-fold</a:t>
            </a:r>
          </a:p>
        </p:txBody>
      </p:sp>
    </p:spTree>
  </p:cSld>
  <p:transition spd="fast">
    <p:fade/>
  </p:transition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V16 COVERAGE · PYTHON REPLACEMENT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AdaBoost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247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965960"/>
            <a:ext cx="22860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2286000"/>
            <a:ext cx="1920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834640"/>
            <a:ext cx="182880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102A43"/>
                </a:solidFill>
                <a:latin typeface="Aptos"/>
              </a:rPr>
              <a:t>typed data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91840" y="1965960"/>
            <a:ext cx="45720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0" y="2286000"/>
            <a:ext cx="4206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B253A"/>
                </a:solidFill>
                <a:latin typeface="Aptos"/>
              </a:rPr>
              <a:t>PYTHON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2834640"/>
            <a:ext cx="411480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102A43"/>
                </a:solidFill>
                <a:latin typeface="Aptos"/>
              </a:rPr>
              <a:t>Successive weak learners reweight previously misclassified cases.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1965960"/>
            <a:ext cx="3063240" cy="338328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19" y="2286000"/>
            <a:ext cx="26974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PROOF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834640"/>
            <a:ext cx="260604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102A43"/>
                </a:solidFill>
                <a:latin typeface="Aptos"/>
              </a:rPr>
              <a:t>Learning rate and error trajectory</a:t>
            </a:r>
          </a:p>
        </p:txBody>
      </p:sp>
    </p:spTree>
  </p:cSld>
  <p:transition spd="fast">
    <p:fade/>
  </p:transition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V16 COVERAGE · PYTHON REPLACEMENT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Save and load model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248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874519"/>
            <a:ext cx="667512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194560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MECHANISM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2743200"/>
            <a:ext cx="6080760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100" b="1">
                <a:solidFill>
                  <a:srgbClr val="102A43"/>
                </a:solidFill>
                <a:latin typeface="Aptos"/>
              </a:rPr>
              <a:t>Persist preprocessing and estimator together as one versioned pipeline.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18120" y="1874519"/>
            <a:ext cx="3611880" cy="361188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92440" y="2194560"/>
            <a:ext cx="3017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VERIFY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2743200"/>
            <a:ext cx="2971800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0B253A"/>
                </a:solidFill>
                <a:latin typeface="Aptos"/>
              </a:rPr>
              <a:t>Round-trip prediction equality</a:t>
            </a:r>
          </a:p>
        </p:txBody>
      </p:sp>
    </p:spTree>
  </p:cSld>
  <p:transition spd="fast">
    <p:fade/>
  </p:transition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53A"/>
                </a:solidFill>
                <a:latin typeface="Aptos"/>
              </a:rPr>
              <a:t>V16 COVERAGE · PYTHON REPLACEMENT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Classification threshold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249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1965960"/>
            <a:ext cx="22860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2286000"/>
            <a:ext cx="1920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INPUT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834640"/>
            <a:ext cx="182880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102A43"/>
                </a:solidFill>
                <a:latin typeface="Aptos"/>
              </a:rPr>
              <a:t>typed data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91840" y="1965960"/>
            <a:ext cx="45720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0" y="2286000"/>
            <a:ext cx="4206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B253A"/>
                </a:solidFill>
                <a:latin typeface="Aptos"/>
              </a:rPr>
              <a:t>PYTHON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2834640"/>
            <a:ext cx="411480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102A43"/>
                </a:solidFill>
                <a:latin typeface="Aptos"/>
              </a:rPr>
              <a:t>A score becomes a class only after applying an operating threshold.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1965960"/>
            <a:ext cx="3063240" cy="338328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19" y="2286000"/>
            <a:ext cx="26974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ptos"/>
              </a:rPr>
              <a:t>PROOF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834640"/>
            <a:ext cx="260604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700" b="1">
                <a:solidFill>
                  <a:srgbClr val="102A43"/>
                </a:solidFill>
                <a:latin typeface="Aptos"/>
              </a:rPr>
              <a:t>Cost matrix and capacity</a:t>
            </a:r>
          </a:p>
        </p:txBody>
      </p:sp>
    </p:spTree>
  </p:cSld>
  <p:transition spd="fast">
    <p:fade/>
  </p:transition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Aptos"/>
              </a:rPr>
              <a:t>FINAL EVIDENCE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Release checklist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250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01952"/>
            <a:ext cx="3401568" cy="4005072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Aptos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A good-looking output is mistaken for a valid model.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1901952"/>
            <a:ext cx="3401568" cy="4005072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F766E"/>
                </a:solidFill>
                <a:latin typeface="Aptos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Recheck scope, leakage, baseline, metric, error costs, and reproducibility.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1901952"/>
            <a:ext cx="3401568" cy="400507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3" y="2176272"/>
            <a:ext cx="30175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D4ED8"/>
                </a:solidFill>
                <a:latin typeface="Aptos"/>
              </a:rPr>
              <a:t>VERIFICATION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2816352"/>
            <a:ext cx="2880360" cy="2331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2A43"/>
                </a:solidFill>
                <a:latin typeface="Aptos"/>
              </a:rPr>
              <a:t>Every lab artifact has a file, parameter record, chart, and interpretation.</a:t>
            </a:r>
          </a:p>
        </p:txBody>
      </p:sp>
    </p:spTree>
  </p:cSld>
  <p:transition spd="fast">
    <p:fade/>
  </p:transition>
  <p:clrMapOvr>
    <a:masterClrMapping/>
  </p:clrMapOvr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3258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766E"/>
                </a:solidFill>
                <a:latin typeface="Aptos"/>
              </a:rPr>
              <a:t>COURSE SYNTHESIS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760" y="201168"/>
            <a:ext cx="658368" cy="256032"/>
          </a:xfrm>
          <a:prstGeom prst="round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9419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201168"/>
            <a:ext cx="658368" cy="256032"/>
          </a:xfrm>
          <a:prstGeom prst="round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143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201168"/>
            <a:ext cx="658368" cy="25603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48672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METRIC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0" y="201168"/>
            <a:ext cx="658368" cy="256032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25911" y="260603"/>
            <a:ext cx="603504" cy="1097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b="1">
                <a:solidFill>
                  <a:srgbClr val="FFFFFF"/>
                </a:solidFill>
                <a:latin typeface="Aptos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67512"/>
            <a:ext cx="10881360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102A43"/>
                </a:solidFill>
                <a:latin typeface="Aptos"/>
              </a:rPr>
              <a:t>From pattern to responsible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517904"/>
            <a:ext cx="10863072" cy="13716"/>
          </a:xfrm>
          <a:prstGeom prst="rect">
            <a:avLst/>
          </a:prstGeom>
          <a:solidFill>
            <a:srgbClr val="D9E2EC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251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378000" y="2267712"/>
            <a:ext cx="621792" cy="6217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2864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Validate data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1993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893161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85362" y="2267712"/>
            <a:ext cx="621792" cy="621792"/>
          </a:xfrm>
          <a:prstGeom prst="ellipse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40226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609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Fit mechanism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99355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100523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92724" y="2267712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47588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5971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Measure errors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6716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307884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0085" y="2267712"/>
            <a:ext cx="621792" cy="6217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54949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3332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Explain pattern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314078" y="3611880"/>
            <a:ext cx="201168" cy="0"/>
          </a:xfrm>
          <a:prstGeom prst="line">
            <a:avLst/>
          </a:prstGeom>
          <a:ln w="2857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515246" y="1965960"/>
            <a:ext cx="2006193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07447" y="2267712"/>
            <a:ext cx="621792" cy="6217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2311" y="2404872"/>
            <a:ext cx="512064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70694" y="3182112"/>
            <a:ext cx="1695297" cy="13258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02A43"/>
                </a:solidFill>
                <a:latin typeface="Aptos"/>
              </a:rPr>
              <a:t>Test action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687568"/>
            <a:ext cx="10515600" cy="4023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62727B"/>
                </a:solidFill>
                <a:latin typeface="Aptos"/>
              </a:rPr>
              <a:t>Trace the named state at each boundary; a missing state breaks reproducibility.</a:t>
            </a:r>
          </a:p>
        </p:txBody>
      </p:sp>
    </p:spTree>
  </p:cSld>
  <p:transition spd="fast">
    <p:fade/>
  </p:transition>
  <p:clrMapOvr>
    <a:masterClrMapping/>
  </p:clrMapOvr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3A"/>
          </a:solidFill>
          <a:ln w="12700">
            <a:solidFill>
              <a:srgbClr val="0B2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28016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D1FAE5"/>
                </a:solidFill>
                <a:latin typeface="Aptos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057400"/>
            <a:ext cx="10607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3800" b="1">
                <a:solidFill>
                  <a:srgbClr val="FFFFFF"/>
                </a:solidFill>
                <a:latin typeface="Aptos"/>
              </a:rPr>
              <a:t>Keep the evidence reproducible.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8620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D1FAE5"/>
                </a:solidFill>
                <a:latin typeface="Aptos"/>
              </a:rPr>
              <a:t>tertiarycourses.com.sg · Course TGS-2020503264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754880"/>
            <a:ext cx="106070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FFFFFF"/>
                </a:solidFill>
                <a:latin typeface="Aptos"/>
              </a:rPr>
              <a:t>TGS-2020503264 · v17.0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TGS-2020503264  ·  v17.0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519672"/>
            <a:ext cx="36576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1967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62727B"/>
                </a:solidFill>
                <a:latin typeface="Aptos"/>
              </a:rPr>
              <a:t>252</a:t>
            </a:r>
          </a:p>
        </p:txBody>
      </p:sp>
    </p:spTree>
  </p:cSld>
  <p:transition spd="fast">
    <p:fade/>
  </p:transition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